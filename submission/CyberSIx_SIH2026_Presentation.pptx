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lack" panose="020B0A04020102020204" pitchFamily="34" charset="0"/>
      <p:bold r:id="rId9"/>
    </p:embeddedFont>
    <p:embeddedFont>
      <p:font typeface="Arial Bold" panose="020B0704020202020204" pitchFamily="34" charset="0"/>
      <p:regular r:id="rId10"/>
      <p:bold r:id="rId11"/>
    </p:embeddedFont>
    <p:embeddedFont>
      <p:font typeface="Arimo" panose="020B0604020202020204" charset="0"/>
      <p:regular r:id="rId12"/>
    </p:embeddedFont>
    <p:embeddedFont>
      <p:font typeface="Arimo Bold" panose="020B0604020202020204" charset="0"/>
      <p:regular r:id="rId13"/>
    </p:embeddedFont>
    <p:embeddedFont>
      <p:font typeface="Calibri (MS)" panose="020B0604020202020204" charset="0"/>
      <p:regular r:id="rId14"/>
    </p:embeddedFont>
    <p:embeddedFont>
      <p:font typeface="Garamond Bold" panose="02020804030307010803" pitchFamily="18" charset="0"/>
      <p:regular r:id="rId15"/>
      <p:bold r:id="rId16"/>
    </p:embeddedFont>
    <p:embeddedFont>
      <p:font typeface="Times New Roman Bold" panose="02020803070505020304" pitchFamily="18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2333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496929" y="-481136"/>
            <a:ext cx="13800001" cy="2496674"/>
            <a:chOff x="0" y="0"/>
            <a:chExt cx="18400001" cy="33288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399999" cy="3328900"/>
            </a:xfrm>
            <a:custGeom>
              <a:avLst/>
              <a:gdLst/>
              <a:ahLst/>
              <a:cxnLst/>
              <a:rect l="l" t="t" r="r" b="b"/>
              <a:pathLst>
                <a:path w="18399999" h="3328900">
                  <a:moveTo>
                    <a:pt x="0" y="0"/>
                  </a:moveTo>
                  <a:lnTo>
                    <a:pt x="18399999" y="0"/>
                  </a:lnTo>
                  <a:lnTo>
                    <a:pt x="18399999" y="3328900"/>
                  </a:lnTo>
                  <a:lnTo>
                    <a:pt x="0" y="3328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7700" b="-5770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8400001" cy="33288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0629900" y="7063740"/>
            <a:ext cx="837962" cy="1165860"/>
            <a:chOff x="0" y="0"/>
            <a:chExt cx="1117282" cy="1554480"/>
          </a:xfrm>
        </p:grpSpPr>
        <p:sp>
          <p:nvSpPr>
            <p:cNvPr id="11" name="Freeform 11" descr="induserve-logo.png"/>
            <p:cNvSpPr/>
            <p:nvPr/>
          </p:nvSpPr>
          <p:spPr>
            <a:xfrm>
              <a:off x="0" y="0"/>
              <a:ext cx="1117219" cy="1554480"/>
            </a:xfrm>
            <a:custGeom>
              <a:avLst/>
              <a:gdLst/>
              <a:ahLst/>
              <a:cxnLst/>
              <a:rect l="l" t="t" r="r" b="b"/>
              <a:pathLst>
                <a:path w="1117219" h="1554480">
                  <a:moveTo>
                    <a:pt x="0" y="0"/>
                  </a:moveTo>
                  <a:lnTo>
                    <a:pt x="1117219" y="0"/>
                  </a:lnTo>
                  <a:lnTo>
                    <a:pt x="1117219" y="1554480"/>
                  </a:lnTo>
                  <a:lnTo>
                    <a:pt x="0" y="155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90956" y="3144774"/>
            <a:ext cx="8499348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26130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0956" y="3885438"/>
            <a:ext cx="8636508" cy="1248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1C2630"/>
                </a:solidFill>
                <a:latin typeface="Arial Bold"/>
                <a:ea typeface="Arial Bold"/>
                <a:cs typeface="Arial Bold"/>
                <a:sym typeface="Arial Bold"/>
              </a:rPr>
              <a:t>Streamlining Industrial Approvals,</a:t>
            </a:r>
          </a:p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1C2630"/>
                </a:solidFill>
                <a:latin typeface="Arial Bold"/>
                <a:ea typeface="Arial Bold"/>
                <a:cs typeface="Arial Bold"/>
                <a:sym typeface="Arial Bold"/>
              </a:rPr>
              <a:t>Compliance Processes, and Access to Government Support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0956" y="5394198"/>
            <a:ext cx="8430768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9"/>
              </a:lnSpc>
            </a:pPr>
            <a:r>
              <a:rPr lang="en-US" sz="2649" b="1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Theme – Smart Automation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0956" y="6025134"/>
            <a:ext cx="843076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1C2630"/>
                </a:solidFill>
                <a:latin typeface="Arial"/>
                <a:ea typeface="Arial"/>
                <a:cs typeface="Arial"/>
                <a:sym typeface="Arial"/>
              </a:rPr>
              <a:t>PS Category – Software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5246" y="6701409"/>
            <a:ext cx="843076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897B"/>
                </a:solidFill>
                <a:latin typeface="Arial Bold"/>
                <a:ea typeface="Arial Bold"/>
                <a:cs typeface="Arial Bold"/>
                <a:sym typeface="Arial Bold"/>
              </a:rPr>
              <a:t>Team Name – </a:t>
            </a:r>
            <a:r>
              <a:rPr lang="en-US" sz="2999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CyberSix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0956" y="7629906"/>
            <a:ext cx="8430768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 err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Indu</a:t>
            </a:r>
            <a:r>
              <a:rPr lang="en-US" sz="4200" b="1" dirty="0" err="1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Serve</a:t>
            </a:r>
            <a:endParaRPr lang="en-US" sz="4200" b="1" dirty="0">
              <a:solidFill>
                <a:srgbClr val="0070C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312849" y="9248775"/>
            <a:ext cx="1260647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374">
                <a:solidFill>
                  <a:srgbClr val="5C6E7E"/>
                </a:solidFill>
                <a:latin typeface="Arial"/>
                <a:ea typeface="Arial"/>
                <a:cs typeface="Arial"/>
                <a:sym typeface="Arial"/>
              </a:rPr>
              <a:t>Single-window industrial approvals, compliance &amp; government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274501" y="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 dirty="0">
                  <a:solidFill>
                    <a:srgbClr val="0F2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INDUSERVE — SINGLE-WINDOW INDUSTRIAL COMPLIANCE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4662" y="378371"/>
            <a:ext cx="1877787" cy="1210999"/>
            <a:chOff x="0" y="0"/>
            <a:chExt cx="2503716" cy="1614665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03678" cy="1614678"/>
            </a:xfrm>
            <a:custGeom>
              <a:avLst/>
              <a:gdLst/>
              <a:ahLst/>
              <a:cxnLst/>
              <a:rect l="l" t="t" r="r" b="b"/>
              <a:pathLst>
                <a:path w="2503678" h="1614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503716" cy="1633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CyberSix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809244" y="2336592"/>
            <a:ext cx="651052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1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9244" y="2712149"/>
            <a:ext cx="6441948" cy="770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 dirty="0" err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InduServe</a:t>
            </a:r>
            <a:r>
              <a:rPr lang="en-US" sz="2550" b="1" dirty="0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 — one digital window for the industrial regulatory journey.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65760" y="3810901"/>
            <a:ext cx="6954012" cy="364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9"/>
              </a:lnSpc>
            </a:pPr>
            <a:r>
              <a:rPr lang="en-US" sz="2191">
                <a:solidFill>
                  <a:srgbClr val="1C2630"/>
                </a:solidFill>
                <a:latin typeface="Arial"/>
                <a:ea typeface="Arial"/>
                <a:cs typeface="Arial"/>
                <a:sym typeface="Arial"/>
              </a:rPr>
              <a:t>• Discover required licences, NOCs and approvals by industry.</a:t>
            </a:r>
          </a:p>
          <a:p>
            <a:pPr algn="l">
              <a:lnSpc>
                <a:spcPts val="2629"/>
              </a:lnSpc>
            </a:pPr>
            <a:r>
              <a:rPr lang="en-US" sz="219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Create a reusable industry profile with business details.</a:t>
            </a:r>
          </a:p>
          <a:p>
            <a:pPr algn="l">
              <a:lnSpc>
                <a:spcPts val="2629"/>
              </a:lnSpc>
            </a:pPr>
            <a:r>
              <a:rPr lang="en-US" sz="219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Submit applications with reusable profile &amp; document data.</a:t>
            </a:r>
          </a:p>
          <a:p>
            <a:pPr algn="l">
              <a:lnSpc>
                <a:spcPts val="2629"/>
              </a:lnSpc>
            </a:pPr>
            <a:r>
              <a:rPr lang="en-US" sz="219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Track approval status, pending actions and required documents.</a:t>
            </a:r>
          </a:p>
          <a:p>
            <a:pPr algn="l">
              <a:lnSpc>
                <a:spcPts val="2629"/>
              </a:lnSpc>
            </a:pPr>
            <a:r>
              <a:rPr lang="en-US" sz="219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Maintain compliance checklists, deadlines and completed tasks.</a:t>
            </a:r>
          </a:p>
          <a:p>
            <a:pPr algn="l">
              <a:lnSpc>
                <a:spcPts val="2629"/>
              </a:lnSpc>
            </a:pPr>
            <a:r>
              <a:rPr lang="en-US" sz="219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Find eligible schemes, subsidies and incentives in one view.</a:t>
            </a:r>
          </a:p>
          <a:p>
            <a:pPr algn="l">
              <a:lnSpc>
                <a:spcPts val="2629"/>
              </a:lnSpc>
            </a:pPr>
            <a:r>
              <a:rPr lang="en-US" sz="219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Get approval, deadline and scheme alerts through notifications.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0956" y="7620381"/>
            <a:ext cx="651052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1">
                <a:solidFill>
                  <a:srgbClr val="00897B"/>
                </a:solidFill>
                <a:latin typeface="Arial Bold"/>
                <a:ea typeface="Arial Bold"/>
                <a:cs typeface="Arial Bold"/>
                <a:sym typeface="Arial Bold"/>
              </a:rPr>
              <a:t>HOW IT ADDRESSES THE PROBLEM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0956" y="8008620"/>
            <a:ext cx="6304788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Replaces fragmented manual follow-up with one dashboard for discovery, submission, document reuse, status tracking, compliance deadlines and support schemes.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56932" y="2336592"/>
            <a:ext cx="980236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1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SINGLE-WINDOW JOURNEY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456932" y="3581210"/>
            <a:ext cx="1813750" cy="1247910"/>
            <a:chOff x="0" y="0"/>
            <a:chExt cx="2227580" cy="153263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27580" cy="1532509"/>
            </a:xfrm>
            <a:custGeom>
              <a:avLst/>
              <a:gdLst/>
              <a:ahLst/>
              <a:cxnLst/>
              <a:rect l="l" t="t" r="r" b="b"/>
              <a:pathLst>
                <a:path w="2227580" h="1532509">
                  <a:moveTo>
                    <a:pt x="0" y="255397"/>
                  </a:moveTo>
                  <a:cubicBezTo>
                    <a:pt x="0" y="114427"/>
                    <a:pt x="114427" y="0"/>
                    <a:pt x="255397" y="0"/>
                  </a:cubicBezTo>
                  <a:lnTo>
                    <a:pt x="1972183" y="0"/>
                  </a:lnTo>
                  <a:cubicBezTo>
                    <a:pt x="2113280" y="0"/>
                    <a:pt x="2227580" y="114427"/>
                    <a:pt x="2227580" y="255397"/>
                  </a:cubicBezTo>
                  <a:lnTo>
                    <a:pt x="2227580" y="1277112"/>
                  </a:lnTo>
                  <a:cubicBezTo>
                    <a:pt x="2227580" y="1418209"/>
                    <a:pt x="2113153" y="1532509"/>
                    <a:pt x="1972183" y="1532509"/>
                  </a:cubicBezTo>
                  <a:lnTo>
                    <a:pt x="255397" y="1532509"/>
                  </a:lnTo>
                  <a:cubicBezTo>
                    <a:pt x="114427" y="1532636"/>
                    <a:pt x="0" y="1418209"/>
                    <a:pt x="0" y="1277239"/>
                  </a:cubicBezTo>
                  <a:close/>
                </a:path>
              </a:pathLst>
            </a:custGeom>
            <a:solidFill>
              <a:srgbClr val="F8FAFC"/>
            </a:solidFill>
            <a:ln w="24765" cap="sq">
              <a:solidFill>
                <a:srgbClr val="0070C0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7543006" y="3717036"/>
            <a:ext cx="1646714" cy="1077849"/>
            <a:chOff x="0" y="0"/>
            <a:chExt cx="2011680" cy="131673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11678" cy="1316736"/>
            </a:xfrm>
            <a:custGeom>
              <a:avLst/>
              <a:gdLst/>
              <a:ahLst/>
              <a:cxnLst/>
              <a:rect l="l" t="t" r="r" b="b"/>
              <a:pathLst>
                <a:path w="2011678" h="1316736">
                  <a:moveTo>
                    <a:pt x="0" y="0"/>
                  </a:moveTo>
                  <a:lnTo>
                    <a:pt x="2011678" y="0"/>
                  </a:lnTo>
                  <a:lnTo>
                    <a:pt x="201167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980" r="-33980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2011680" cy="13262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49"/>
                </a:lnSpc>
              </a:pPr>
              <a:r>
                <a:rPr lang="en-US" sz="2124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Business</a:t>
              </a:r>
            </a:p>
            <a:p>
              <a:pPr algn="ctr">
                <a:lnSpc>
                  <a:spcPts val="2549"/>
                </a:lnSpc>
              </a:pPr>
              <a:r>
                <a:rPr lang="en-US" sz="2124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Profile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499568" y="3581210"/>
            <a:ext cx="1965675" cy="1204150"/>
            <a:chOff x="0" y="0"/>
            <a:chExt cx="2501900" cy="153263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501900" cy="1532509"/>
            </a:xfrm>
            <a:custGeom>
              <a:avLst/>
              <a:gdLst/>
              <a:ahLst/>
              <a:cxnLst/>
              <a:rect l="l" t="t" r="r" b="b"/>
              <a:pathLst>
                <a:path w="2501900" h="1532509">
                  <a:moveTo>
                    <a:pt x="0" y="255397"/>
                  </a:moveTo>
                  <a:cubicBezTo>
                    <a:pt x="0" y="114427"/>
                    <a:pt x="114427" y="0"/>
                    <a:pt x="255397" y="0"/>
                  </a:cubicBezTo>
                  <a:lnTo>
                    <a:pt x="2246503" y="0"/>
                  </a:lnTo>
                  <a:cubicBezTo>
                    <a:pt x="2387473" y="0"/>
                    <a:pt x="2501900" y="114427"/>
                    <a:pt x="2501900" y="255397"/>
                  </a:cubicBezTo>
                  <a:lnTo>
                    <a:pt x="2501900" y="1277112"/>
                  </a:lnTo>
                  <a:cubicBezTo>
                    <a:pt x="2501900" y="1418209"/>
                    <a:pt x="2387473" y="1532509"/>
                    <a:pt x="2246503" y="1532509"/>
                  </a:cubicBezTo>
                  <a:lnTo>
                    <a:pt x="255397" y="1532509"/>
                  </a:lnTo>
                  <a:cubicBezTo>
                    <a:pt x="114427" y="1532636"/>
                    <a:pt x="0" y="1418209"/>
                    <a:pt x="0" y="1277239"/>
                  </a:cubicBezTo>
                  <a:close/>
                </a:path>
              </a:pathLst>
            </a:custGeom>
            <a:solidFill>
              <a:srgbClr val="F8FAFC"/>
            </a:solidFill>
            <a:ln w="24765" cap="sq">
              <a:solidFill>
                <a:srgbClr val="0070C0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9513014" y="3717036"/>
            <a:ext cx="1871266" cy="1077849"/>
            <a:chOff x="0" y="0"/>
            <a:chExt cx="2286000" cy="131673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286000" cy="1316736"/>
            </a:xfrm>
            <a:custGeom>
              <a:avLst/>
              <a:gdLst/>
              <a:ahLst/>
              <a:cxnLst/>
              <a:rect l="l" t="t" r="r" b="b"/>
              <a:pathLst>
                <a:path w="2286000" h="1316736">
                  <a:moveTo>
                    <a:pt x="0" y="0"/>
                  </a:moveTo>
                  <a:lnTo>
                    <a:pt x="2286000" y="0"/>
                  </a:lnTo>
                  <a:lnTo>
                    <a:pt x="22860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902" r="-23902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2286000" cy="13262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29"/>
                </a:lnSpc>
              </a:pPr>
              <a:r>
                <a:rPr lang="en-US" sz="2024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Approval</a:t>
              </a:r>
            </a:p>
            <a:p>
              <a:pPr algn="ctr">
                <a:lnSpc>
                  <a:spcPts val="2429"/>
                </a:lnSpc>
              </a:pPr>
              <a:r>
                <a:rPr lang="en-US" sz="2024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Discovery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703368" y="3581210"/>
            <a:ext cx="2028657" cy="1289875"/>
            <a:chOff x="0" y="0"/>
            <a:chExt cx="2410460" cy="153263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410460" cy="1532509"/>
            </a:xfrm>
            <a:custGeom>
              <a:avLst/>
              <a:gdLst/>
              <a:ahLst/>
              <a:cxnLst/>
              <a:rect l="l" t="t" r="r" b="b"/>
              <a:pathLst>
                <a:path w="2410460" h="1532509">
                  <a:moveTo>
                    <a:pt x="0" y="255397"/>
                  </a:moveTo>
                  <a:cubicBezTo>
                    <a:pt x="0" y="114427"/>
                    <a:pt x="114427" y="0"/>
                    <a:pt x="255397" y="0"/>
                  </a:cubicBezTo>
                  <a:lnTo>
                    <a:pt x="2155063" y="0"/>
                  </a:lnTo>
                  <a:cubicBezTo>
                    <a:pt x="2296160" y="0"/>
                    <a:pt x="2410460" y="114427"/>
                    <a:pt x="2410460" y="255397"/>
                  </a:cubicBezTo>
                  <a:lnTo>
                    <a:pt x="2410460" y="1277112"/>
                  </a:lnTo>
                  <a:cubicBezTo>
                    <a:pt x="2410460" y="1418209"/>
                    <a:pt x="2296033" y="1532509"/>
                    <a:pt x="2155063" y="1532509"/>
                  </a:cubicBezTo>
                  <a:lnTo>
                    <a:pt x="255397" y="1532509"/>
                  </a:lnTo>
                  <a:cubicBezTo>
                    <a:pt x="114427" y="1532636"/>
                    <a:pt x="0" y="1418209"/>
                    <a:pt x="0" y="1277239"/>
                  </a:cubicBezTo>
                  <a:close/>
                </a:path>
              </a:pathLst>
            </a:custGeom>
            <a:solidFill>
              <a:srgbClr val="F8FAFC"/>
            </a:solidFill>
            <a:ln w="24765" cap="sq">
              <a:solidFill>
                <a:srgbClr val="0070C0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1729720" y="3717036"/>
            <a:ext cx="1780540" cy="1068324"/>
            <a:chOff x="0" y="0"/>
            <a:chExt cx="2194560" cy="131673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94560" cy="1316736"/>
            </a:xfrm>
            <a:custGeom>
              <a:avLst/>
              <a:gdLst/>
              <a:ahLst/>
              <a:cxnLst/>
              <a:rect l="l" t="t" r="r" b="b"/>
              <a:pathLst>
                <a:path w="2194560" h="1316736">
                  <a:moveTo>
                    <a:pt x="0" y="0"/>
                  </a:moveTo>
                  <a:lnTo>
                    <a:pt x="2194560" y="0"/>
                  </a:lnTo>
                  <a:lnTo>
                    <a:pt x="219456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2194560" cy="1335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09"/>
                </a:lnSpc>
              </a:pPr>
              <a:r>
                <a:rPr lang="en-US" sz="1924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Apply +</a:t>
              </a:r>
            </a:p>
            <a:p>
              <a:pPr algn="ctr">
                <a:lnSpc>
                  <a:spcPts val="2309"/>
                </a:lnSpc>
              </a:pPr>
              <a:r>
                <a:rPr lang="en-US" sz="1924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Documents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909357" y="3581210"/>
            <a:ext cx="1763993" cy="1213675"/>
            <a:chOff x="0" y="0"/>
            <a:chExt cx="2227580" cy="153263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227580" cy="1532509"/>
            </a:xfrm>
            <a:custGeom>
              <a:avLst/>
              <a:gdLst/>
              <a:ahLst/>
              <a:cxnLst/>
              <a:rect l="l" t="t" r="r" b="b"/>
              <a:pathLst>
                <a:path w="2227580" h="1532509">
                  <a:moveTo>
                    <a:pt x="0" y="255397"/>
                  </a:moveTo>
                  <a:cubicBezTo>
                    <a:pt x="0" y="114427"/>
                    <a:pt x="114427" y="0"/>
                    <a:pt x="255397" y="0"/>
                  </a:cubicBezTo>
                  <a:lnTo>
                    <a:pt x="1972183" y="0"/>
                  </a:lnTo>
                  <a:cubicBezTo>
                    <a:pt x="2113280" y="0"/>
                    <a:pt x="2227580" y="114427"/>
                    <a:pt x="2227580" y="255397"/>
                  </a:cubicBezTo>
                  <a:lnTo>
                    <a:pt x="2227580" y="1277112"/>
                  </a:lnTo>
                  <a:cubicBezTo>
                    <a:pt x="2227580" y="1418209"/>
                    <a:pt x="2113153" y="1532509"/>
                    <a:pt x="1972183" y="1532509"/>
                  </a:cubicBezTo>
                  <a:lnTo>
                    <a:pt x="255397" y="1532509"/>
                  </a:lnTo>
                  <a:cubicBezTo>
                    <a:pt x="114427" y="1532636"/>
                    <a:pt x="0" y="1418209"/>
                    <a:pt x="0" y="1277239"/>
                  </a:cubicBezTo>
                  <a:close/>
                </a:path>
              </a:pathLst>
            </a:custGeom>
            <a:solidFill>
              <a:srgbClr val="F8FAFC"/>
            </a:solidFill>
            <a:ln w="24765" cap="sq">
              <a:solidFill>
                <a:srgbClr val="0070C0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3852366" y="3717036"/>
            <a:ext cx="1646714" cy="1077849"/>
            <a:chOff x="0" y="0"/>
            <a:chExt cx="2011680" cy="131673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011678" cy="1316736"/>
            </a:xfrm>
            <a:custGeom>
              <a:avLst/>
              <a:gdLst/>
              <a:ahLst/>
              <a:cxnLst/>
              <a:rect l="l" t="t" r="r" b="b"/>
              <a:pathLst>
                <a:path w="2011678" h="1316736">
                  <a:moveTo>
                    <a:pt x="0" y="0"/>
                  </a:moveTo>
                  <a:lnTo>
                    <a:pt x="2011678" y="0"/>
                  </a:lnTo>
                  <a:lnTo>
                    <a:pt x="201167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980" r="-33980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2011680" cy="1335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09"/>
                </a:lnSpc>
              </a:pPr>
              <a:r>
                <a:rPr lang="en-US" sz="1924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Track</a:t>
              </a:r>
            </a:p>
            <a:p>
              <a:pPr algn="ctr">
                <a:lnSpc>
                  <a:spcPts val="2309"/>
                </a:lnSpc>
              </a:pPr>
              <a:r>
                <a:rPr lang="en-US" sz="1924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Status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5898177" y="3581210"/>
            <a:ext cx="1874744" cy="1289875"/>
            <a:chOff x="0" y="0"/>
            <a:chExt cx="2227580" cy="153263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227580" cy="1532509"/>
            </a:xfrm>
            <a:custGeom>
              <a:avLst/>
              <a:gdLst/>
              <a:ahLst/>
              <a:cxnLst/>
              <a:rect l="l" t="t" r="r" b="b"/>
              <a:pathLst>
                <a:path w="2227580" h="1532509">
                  <a:moveTo>
                    <a:pt x="0" y="255397"/>
                  </a:moveTo>
                  <a:cubicBezTo>
                    <a:pt x="0" y="114427"/>
                    <a:pt x="114427" y="0"/>
                    <a:pt x="255397" y="0"/>
                  </a:cubicBezTo>
                  <a:lnTo>
                    <a:pt x="1972183" y="0"/>
                  </a:lnTo>
                  <a:cubicBezTo>
                    <a:pt x="2113280" y="0"/>
                    <a:pt x="2227580" y="114427"/>
                    <a:pt x="2227580" y="255397"/>
                  </a:cubicBezTo>
                  <a:lnTo>
                    <a:pt x="2227580" y="1277112"/>
                  </a:lnTo>
                  <a:cubicBezTo>
                    <a:pt x="2227580" y="1418209"/>
                    <a:pt x="2113153" y="1532509"/>
                    <a:pt x="1972183" y="1532509"/>
                  </a:cubicBezTo>
                  <a:lnTo>
                    <a:pt x="255397" y="1532509"/>
                  </a:lnTo>
                  <a:cubicBezTo>
                    <a:pt x="114427" y="1532636"/>
                    <a:pt x="0" y="1418209"/>
                    <a:pt x="0" y="1277239"/>
                  </a:cubicBezTo>
                  <a:close/>
                </a:path>
              </a:pathLst>
            </a:custGeom>
            <a:solidFill>
              <a:srgbClr val="F8FAFC"/>
            </a:solidFill>
            <a:ln w="24765" cap="sq">
              <a:solidFill>
                <a:srgbClr val="0070C0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5982722" y="3679689"/>
            <a:ext cx="1669732" cy="1092916"/>
            <a:chOff x="0" y="0"/>
            <a:chExt cx="2011680" cy="131673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011678" cy="1316736"/>
            </a:xfrm>
            <a:custGeom>
              <a:avLst/>
              <a:gdLst/>
              <a:ahLst/>
              <a:cxnLst/>
              <a:rect l="l" t="t" r="r" b="b"/>
              <a:pathLst>
                <a:path w="2011678" h="1316736">
                  <a:moveTo>
                    <a:pt x="0" y="0"/>
                  </a:moveTo>
                  <a:lnTo>
                    <a:pt x="2011678" y="0"/>
                  </a:lnTo>
                  <a:lnTo>
                    <a:pt x="201167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980" r="-33980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2011680" cy="1335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89"/>
                </a:lnSpc>
              </a:pPr>
              <a:r>
                <a:rPr lang="en-US" sz="1824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Compliance</a:t>
              </a:r>
            </a:p>
            <a:p>
              <a:pPr algn="ctr">
                <a:lnSpc>
                  <a:spcPts val="2189"/>
                </a:lnSpc>
              </a:pPr>
              <a:r>
                <a:rPr lang="en-US" sz="1824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Alerts</a:t>
              </a:r>
            </a:p>
          </p:txBody>
        </p:sp>
      </p:grpSp>
      <p:sp>
        <p:nvSpPr>
          <p:cNvPr id="49" name="AutoShape 49"/>
          <p:cNvSpPr/>
          <p:nvPr/>
        </p:nvSpPr>
        <p:spPr>
          <a:xfrm rot="263940">
            <a:off x="9243460" y="4146423"/>
            <a:ext cx="372570" cy="0"/>
          </a:xfrm>
          <a:prstGeom prst="line">
            <a:avLst/>
          </a:prstGeom>
          <a:ln w="19050" cap="rnd">
            <a:solidFill>
              <a:srgbClr val="0070C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0" name="AutoShape 50"/>
          <p:cNvSpPr/>
          <p:nvPr/>
        </p:nvSpPr>
        <p:spPr>
          <a:xfrm rot="263940">
            <a:off x="11438020" y="4146423"/>
            <a:ext cx="372570" cy="0"/>
          </a:xfrm>
          <a:prstGeom prst="line">
            <a:avLst/>
          </a:prstGeom>
          <a:ln w="19050" cap="rnd">
            <a:solidFill>
              <a:srgbClr val="0070C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" name="AutoShape 51"/>
          <p:cNvSpPr/>
          <p:nvPr/>
        </p:nvSpPr>
        <p:spPr>
          <a:xfrm rot="263940">
            <a:off x="13564000" y="4146423"/>
            <a:ext cx="372570" cy="0"/>
          </a:xfrm>
          <a:prstGeom prst="line">
            <a:avLst/>
          </a:prstGeom>
          <a:ln w="19050" cap="rnd">
            <a:solidFill>
              <a:srgbClr val="0070C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" name="AutoShape 52"/>
          <p:cNvSpPr/>
          <p:nvPr/>
        </p:nvSpPr>
        <p:spPr>
          <a:xfrm rot="263940">
            <a:off x="15552820" y="4146423"/>
            <a:ext cx="372570" cy="0"/>
          </a:xfrm>
          <a:prstGeom prst="line">
            <a:avLst/>
          </a:prstGeom>
          <a:ln w="19050" cap="rnd">
            <a:solidFill>
              <a:srgbClr val="0070C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3" name="Group 53"/>
          <p:cNvGrpSpPr/>
          <p:nvPr/>
        </p:nvGrpSpPr>
        <p:grpSpPr>
          <a:xfrm>
            <a:off x="7602855" y="5271135"/>
            <a:ext cx="4888230" cy="1733550"/>
            <a:chOff x="0" y="0"/>
            <a:chExt cx="6517640" cy="23114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517640" cy="2311400"/>
            </a:xfrm>
            <a:custGeom>
              <a:avLst/>
              <a:gdLst/>
              <a:ahLst/>
              <a:cxnLst/>
              <a:rect l="l" t="t" r="r" b="b"/>
              <a:pathLst>
                <a:path w="6517640" h="2311400">
                  <a:moveTo>
                    <a:pt x="0" y="385191"/>
                  </a:moveTo>
                  <a:cubicBezTo>
                    <a:pt x="0" y="172466"/>
                    <a:pt x="172466" y="0"/>
                    <a:pt x="385191" y="0"/>
                  </a:cubicBezTo>
                  <a:lnTo>
                    <a:pt x="6132449" y="0"/>
                  </a:lnTo>
                  <a:cubicBezTo>
                    <a:pt x="6345174" y="0"/>
                    <a:pt x="6517640" y="172466"/>
                    <a:pt x="6517640" y="385191"/>
                  </a:cubicBezTo>
                  <a:lnTo>
                    <a:pt x="6517640" y="1926209"/>
                  </a:lnTo>
                  <a:cubicBezTo>
                    <a:pt x="6517640" y="2138934"/>
                    <a:pt x="6345174" y="2311400"/>
                    <a:pt x="6132449" y="2311400"/>
                  </a:cubicBezTo>
                  <a:lnTo>
                    <a:pt x="385191" y="2311400"/>
                  </a:lnTo>
                  <a:cubicBezTo>
                    <a:pt x="172466" y="2311400"/>
                    <a:pt x="0" y="2138934"/>
                    <a:pt x="0" y="19262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7612380" y="5280660"/>
            <a:ext cx="96012" cy="1714500"/>
            <a:chOff x="0" y="0"/>
            <a:chExt cx="128016" cy="22860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28016" cy="2286000"/>
            </a:xfrm>
            <a:custGeom>
              <a:avLst/>
              <a:gdLst/>
              <a:ahLst/>
              <a:cxnLst/>
              <a:rect l="l" t="t" r="r" b="b"/>
              <a:pathLst>
                <a:path w="128016" h="2286000">
                  <a:moveTo>
                    <a:pt x="0" y="0"/>
                  </a:moveTo>
                  <a:lnTo>
                    <a:pt x="128016" y="0"/>
                  </a:lnTo>
                  <a:lnTo>
                    <a:pt x="128016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sp>
        <p:nvSpPr>
          <p:cNvPr id="57" name="TextBox 57"/>
          <p:cNvSpPr txBox="1"/>
          <p:nvPr/>
        </p:nvSpPr>
        <p:spPr>
          <a:xfrm>
            <a:off x="7895844" y="5495544"/>
            <a:ext cx="4384548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Innovation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895844" y="5961888"/>
            <a:ext cx="438454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5C6E7E"/>
                </a:solidFill>
                <a:latin typeface="Arial"/>
                <a:ea typeface="Arial"/>
                <a:cs typeface="Arial"/>
                <a:sym typeface="Arial"/>
              </a:rPr>
              <a:t>Eligibility-aware scheme matching + rule-based compliance checklist.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12677775" y="5271135"/>
            <a:ext cx="4888230" cy="1733550"/>
            <a:chOff x="0" y="0"/>
            <a:chExt cx="6517640" cy="23114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517640" cy="2311400"/>
            </a:xfrm>
            <a:custGeom>
              <a:avLst/>
              <a:gdLst/>
              <a:ahLst/>
              <a:cxnLst/>
              <a:rect l="l" t="t" r="r" b="b"/>
              <a:pathLst>
                <a:path w="6517640" h="2311400">
                  <a:moveTo>
                    <a:pt x="0" y="385191"/>
                  </a:moveTo>
                  <a:cubicBezTo>
                    <a:pt x="0" y="172466"/>
                    <a:pt x="172466" y="0"/>
                    <a:pt x="385191" y="0"/>
                  </a:cubicBezTo>
                  <a:lnTo>
                    <a:pt x="6132449" y="0"/>
                  </a:lnTo>
                  <a:cubicBezTo>
                    <a:pt x="6345174" y="0"/>
                    <a:pt x="6517640" y="172466"/>
                    <a:pt x="6517640" y="385191"/>
                  </a:cubicBezTo>
                  <a:lnTo>
                    <a:pt x="6517640" y="1926209"/>
                  </a:lnTo>
                  <a:cubicBezTo>
                    <a:pt x="6517640" y="2138934"/>
                    <a:pt x="6345174" y="2311400"/>
                    <a:pt x="6132449" y="2311400"/>
                  </a:cubicBezTo>
                  <a:lnTo>
                    <a:pt x="385191" y="2311400"/>
                  </a:lnTo>
                  <a:cubicBezTo>
                    <a:pt x="172466" y="2311400"/>
                    <a:pt x="0" y="2138934"/>
                    <a:pt x="0" y="19262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12687300" y="5280660"/>
            <a:ext cx="96012" cy="1714500"/>
            <a:chOff x="0" y="0"/>
            <a:chExt cx="128016" cy="22860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28016" cy="2286000"/>
            </a:xfrm>
            <a:custGeom>
              <a:avLst/>
              <a:gdLst/>
              <a:ahLst/>
              <a:cxnLst/>
              <a:rect l="l" t="t" r="r" b="b"/>
              <a:pathLst>
                <a:path w="128016" h="2286000">
                  <a:moveTo>
                    <a:pt x="0" y="0"/>
                  </a:moveTo>
                  <a:lnTo>
                    <a:pt x="128016" y="0"/>
                  </a:lnTo>
                  <a:lnTo>
                    <a:pt x="128016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63" name="TextBox 63"/>
          <p:cNvSpPr txBox="1"/>
          <p:nvPr/>
        </p:nvSpPr>
        <p:spPr>
          <a:xfrm>
            <a:off x="12970764" y="5495544"/>
            <a:ext cx="4384548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Transparency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970764" y="5923788"/>
            <a:ext cx="4384548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Eligibility-aware matching using industry/business details to surface relevant schemes.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7602855" y="7259955"/>
            <a:ext cx="4888230" cy="1596390"/>
            <a:chOff x="0" y="0"/>
            <a:chExt cx="6517640" cy="212852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517640" cy="2128520"/>
            </a:xfrm>
            <a:custGeom>
              <a:avLst/>
              <a:gdLst/>
              <a:ahLst/>
              <a:cxnLst/>
              <a:rect l="l" t="t" r="r" b="b"/>
              <a:pathLst>
                <a:path w="6517640" h="2128520">
                  <a:moveTo>
                    <a:pt x="0" y="354711"/>
                  </a:moveTo>
                  <a:cubicBezTo>
                    <a:pt x="0" y="158877"/>
                    <a:pt x="158877" y="0"/>
                    <a:pt x="354711" y="0"/>
                  </a:cubicBezTo>
                  <a:lnTo>
                    <a:pt x="6162929" y="0"/>
                  </a:lnTo>
                  <a:cubicBezTo>
                    <a:pt x="6358890" y="0"/>
                    <a:pt x="6517640" y="158877"/>
                    <a:pt x="6517640" y="354711"/>
                  </a:cubicBezTo>
                  <a:lnTo>
                    <a:pt x="6517640" y="1773809"/>
                  </a:lnTo>
                  <a:cubicBezTo>
                    <a:pt x="6517640" y="1969770"/>
                    <a:pt x="6358763" y="2128520"/>
                    <a:pt x="6162929" y="2128520"/>
                  </a:cubicBezTo>
                  <a:lnTo>
                    <a:pt x="354711" y="2128520"/>
                  </a:lnTo>
                  <a:cubicBezTo>
                    <a:pt x="158877" y="2128520"/>
                    <a:pt x="0" y="1969643"/>
                    <a:pt x="0" y="17738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7612380" y="7269480"/>
            <a:ext cx="96012" cy="1577340"/>
            <a:chOff x="0" y="0"/>
            <a:chExt cx="128016" cy="210312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28016" cy="2103120"/>
            </a:xfrm>
            <a:custGeom>
              <a:avLst/>
              <a:gdLst/>
              <a:ahLst/>
              <a:cxnLst/>
              <a:rect l="l" t="t" r="r" b="b"/>
              <a:pathLst>
                <a:path w="128016" h="2103120">
                  <a:moveTo>
                    <a:pt x="0" y="0"/>
                  </a:moveTo>
                  <a:lnTo>
                    <a:pt x="128016" y="0"/>
                  </a:lnTo>
                  <a:lnTo>
                    <a:pt x="128016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EF7D22"/>
            </a:solidFill>
          </p:spPr>
        </p:sp>
      </p:grpSp>
      <p:sp>
        <p:nvSpPr>
          <p:cNvPr id="69" name="TextBox 69"/>
          <p:cNvSpPr txBox="1"/>
          <p:nvPr/>
        </p:nvSpPr>
        <p:spPr>
          <a:xfrm>
            <a:off x="7895844" y="7484364"/>
            <a:ext cx="4384548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Centralised data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895844" y="7912608"/>
            <a:ext cx="4384548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One profile + document vault reduces repeated data entry across workflows.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12677775" y="7259955"/>
            <a:ext cx="4888230" cy="1596390"/>
            <a:chOff x="0" y="0"/>
            <a:chExt cx="6517640" cy="212852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517640" cy="2128520"/>
            </a:xfrm>
            <a:custGeom>
              <a:avLst/>
              <a:gdLst/>
              <a:ahLst/>
              <a:cxnLst/>
              <a:rect l="l" t="t" r="r" b="b"/>
              <a:pathLst>
                <a:path w="6517640" h="2128520">
                  <a:moveTo>
                    <a:pt x="0" y="354711"/>
                  </a:moveTo>
                  <a:cubicBezTo>
                    <a:pt x="0" y="158877"/>
                    <a:pt x="158877" y="0"/>
                    <a:pt x="354711" y="0"/>
                  </a:cubicBezTo>
                  <a:lnTo>
                    <a:pt x="6162929" y="0"/>
                  </a:lnTo>
                  <a:cubicBezTo>
                    <a:pt x="6358890" y="0"/>
                    <a:pt x="6517640" y="158877"/>
                    <a:pt x="6517640" y="354711"/>
                  </a:cubicBezTo>
                  <a:lnTo>
                    <a:pt x="6517640" y="1773809"/>
                  </a:lnTo>
                  <a:cubicBezTo>
                    <a:pt x="6517640" y="1969770"/>
                    <a:pt x="6358763" y="2128520"/>
                    <a:pt x="6162929" y="2128520"/>
                  </a:cubicBezTo>
                  <a:lnTo>
                    <a:pt x="354711" y="2128520"/>
                  </a:lnTo>
                  <a:cubicBezTo>
                    <a:pt x="158877" y="2128520"/>
                    <a:pt x="0" y="1969643"/>
                    <a:pt x="0" y="17738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12687300" y="7269480"/>
            <a:ext cx="96012" cy="1577340"/>
            <a:chOff x="0" y="0"/>
            <a:chExt cx="128016" cy="210312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28016" cy="2103120"/>
            </a:xfrm>
            <a:custGeom>
              <a:avLst/>
              <a:gdLst/>
              <a:ahLst/>
              <a:cxnLst/>
              <a:rect l="l" t="t" r="r" b="b"/>
              <a:pathLst>
                <a:path w="128016" h="2103120">
                  <a:moveTo>
                    <a:pt x="0" y="0"/>
                  </a:moveTo>
                  <a:lnTo>
                    <a:pt x="128016" y="0"/>
                  </a:lnTo>
                  <a:lnTo>
                    <a:pt x="128016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sp>
        <p:nvSpPr>
          <p:cNvPr id="75" name="TextBox 75"/>
          <p:cNvSpPr txBox="1"/>
          <p:nvPr/>
        </p:nvSpPr>
        <p:spPr>
          <a:xfrm>
            <a:off x="12970764" y="7484364"/>
            <a:ext cx="4384548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Future-ready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2970764" y="7903083"/>
            <a:ext cx="4384548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9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Eligibility-aware matching using industry/business details to surface relevant schemes.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4662" y="378371"/>
            <a:ext cx="1877787" cy="1210999"/>
            <a:chOff x="0" y="0"/>
            <a:chExt cx="2503716" cy="1614665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03678" cy="1614678"/>
            </a:xfrm>
            <a:custGeom>
              <a:avLst/>
              <a:gdLst/>
              <a:ahLst/>
              <a:cxnLst/>
              <a:rect l="l" t="t" r="r" b="b"/>
              <a:pathLst>
                <a:path w="2503678" h="1614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503716" cy="1633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CyberSix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790956" y="2966466"/>
            <a:ext cx="1638604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274" b="1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TECHNOLOGY STACK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44855" y="3392043"/>
            <a:ext cx="3886962" cy="1322070"/>
            <a:chOff x="0" y="0"/>
            <a:chExt cx="5182616" cy="17627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82616" cy="1762633"/>
            </a:xfrm>
            <a:custGeom>
              <a:avLst/>
              <a:gdLst/>
              <a:ahLst/>
              <a:cxnLst/>
              <a:rect l="l" t="t" r="r" b="b"/>
              <a:pathLst>
                <a:path w="5182616" h="1762633">
                  <a:moveTo>
                    <a:pt x="0" y="293751"/>
                  </a:moveTo>
                  <a:cubicBezTo>
                    <a:pt x="0" y="131572"/>
                    <a:pt x="131572" y="0"/>
                    <a:pt x="293751" y="0"/>
                  </a:cubicBezTo>
                  <a:lnTo>
                    <a:pt x="4888865" y="0"/>
                  </a:lnTo>
                  <a:cubicBezTo>
                    <a:pt x="5051171" y="0"/>
                    <a:pt x="5182616" y="131572"/>
                    <a:pt x="5182616" y="293751"/>
                  </a:cubicBezTo>
                  <a:lnTo>
                    <a:pt x="5182616" y="1468882"/>
                  </a:lnTo>
                  <a:cubicBezTo>
                    <a:pt x="5182616" y="1631188"/>
                    <a:pt x="5051044" y="1762633"/>
                    <a:pt x="4888865" y="1762633"/>
                  </a:cubicBezTo>
                  <a:lnTo>
                    <a:pt x="293751" y="1762633"/>
                  </a:lnTo>
                  <a:cubicBezTo>
                    <a:pt x="131572" y="1762760"/>
                    <a:pt x="0" y="1631188"/>
                    <a:pt x="0" y="14690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54380" y="3401568"/>
            <a:ext cx="96012" cy="1303020"/>
            <a:chOff x="0" y="0"/>
            <a:chExt cx="128016" cy="17373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8016" cy="1737360"/>
            </a:xfrm>
            <a:custGeom>
              <a:avLst/>
              <a:gdLst/>
              <a:ahLst/>
              <a:cxnLst/>
              <a:rect l="l" t="t" r="r" b="b"/>
              <a:pathLst>
                <a:path w="128016" h="1737360">
                  <a:moveTo>
                    <a:pt x="0" y="0"/>
                  </a:moveTo>
                  <a:lnTo>
                    <a:pt x="128016" y="0"/>
                  </a:lnTo>
                  <a:lnTo>
                    <a:pt x="128016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037844" y="3606927"/>
            <a:ext cx="338328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Frontend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7844" y="4035171"/>
            <a:ext cx="338328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9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HTML • CSS • JavaScript</a:t>
            </a:r>
          </a:p>
          <a:p>
            <a:pPr algn="l">
              <a:lnSpc>
                <a:spcPts val="2309"/>
              </a:lnSpc>
            </a:pPr>
            <a:r>
              <a:rPr lang="en-US" sz="19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Responsive portal + dashboards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4969383" y="3392043"/>
            <a:ext cx="3886962" cy="1322070"/>
            <a:chOff x="0" y="0"/>
            <a:chExt cx="5182616" cy="176276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182616" cy="1762633"/>
            </a:xfrm>
            <a:custGeom>
              <a:avLst/>
              <a:gdLst/>
              <a:ahLst/>
              <a:cxnLst/>
              <a:rect l="l" t="t" r="r" b="b"/>
              <a:pathLst>
                <a:path w="5182616" h="1762633">
                  <a:moveTo>
                    <a:pt x="0" y="293751"/>
                  </a:moveTo>
                  <a:cubicBezTo>
                    <a:pt x="0" y="131572"/>
                    <a:pt x="131572" y="0"/>
                    <a:pt x="293751" y="0"/>
                  </a:cubicBezTo>
                  <a:lnTo>
                    <a:pt x="4888865" y="0"/>
                  </a:lnTo>
                  <a:cubicBezTo>
                    <a:pt x="5051171" y="0"/>
                    <a:pt x="5182616" y="131572"/>
                    <a:pt x="5182616" y="293751"/>
                  </a:cubicBezTo>
                  <a:lnTo>
                    <a:pt x="5182616" y="1468882"/>
                  </a:lnTo>
                  <a:cubicBezTo>
                    <a:pt x="5182616" y="1631188"/>
                    <a:pt x="5051044" y="1762633"/>
                    <a:pt x="4888865" y="1762633"/>
                  </a:cubicBezTo>
                  <a:lnTo>
                    <a:pt x="293751" y="1762633"/>
                  </a:lnTo>
                  <a:cubicBezTo>
                    <a:pt x="131572" y="1762760"/>
                    <a:pt x="0" y="1631188"/>
                    <a:pt x="0" y="14690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978908" y="3401568"/>
            <a:ext cx="96012" cy="1303020"/>
            <a:chOff x="0" y="0"/>
            <a:chExt cx="128016" cy="173736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8016" cy="1737360"/>
            </a:xfrm>
            <a:custGeom>
              <a:avLst/>
              <a:gdLst/>
              <a:ahLst/>
              <a:cxnLst/>
              <a:rect l="l" t="t" r="r" b="b"/>
              <a:pathLst>
                <a:path w="128016" h="1737360">
                  <a:moveTo>
                    <a:pt x="0" y="0"/>
                  </a:moveTo>
                  <a:lnTo>
                    <a:pt x="128016" y="0"/>
                  </a:lnTo>
                  <a:lnTo>
                    <a:pt x="128016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5262372" y="3606927"/>
            <a:ext cx="338328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Backend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262372" y="4044696"/>
            <a:ext cx="338328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Node.js • Express</a:t>
            </a:r>
          </a:p>
          <a:p>
            <a:pPr algn="l">
              <a:lnSpc>
                <a:spcPts val="2189"/>
              </a:lnSpc>
            </a:pPr>
            <a:r>
              <a:rPr lang="en-US" sz="18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REST APIs + modular services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193911" y="3392043"/>
            <a:ext cx="3886962" cy="1322070"/>
            <a:chOff x="0" y="0"/>
            <a:chExt cx="5182616" cy="17627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182616" cy="1762633"/>
            </a:xfrm>
            <a:custGeom>
              <a:avLst/>
              <a:gdLst/>
              <a:ahLst/>
              <a:cxnLst/>
              <a:rect l="l" t="t" r="r" b="b"/>
              <a:pathLst>
                <a:path w="5182616" h="1762633">
                  <a:moveTo>
                    <a:pt x="0" y="293751"/>
                  </a:moveTo>
                  <a:cubicBezTo>
                    <a:pt x="0" y="131572"/>
                    <a:pt x="131572" y="0"/>
                    <a:pt x="293751" y="0"/>
                  </a:cubicBezTo>
                  <a:lnTo>
                    <a:pt x="4888865" y="0"/>
                  </a:lnTo>
                  <a:cubicBezTo>
                    <a:pt x="5051171" y="0"/>
                    <a:pt x="5182616" y="131572"/>
                    <a:pt x="5182616" y="293751"/>
                  </a:cubicBezTo>
                  <a:lnTo>
                    <a:pt x="5182616" y="1468882"/>
                  </a:lnTo>
                  <a:cubicBezTo>
                    <a:pt x="5182616" y="1631188"/>
                    <a:pt x="5051044" y="1762633"/>
                    <a:pt x="4888865" y="1762633"/>
                  </a:cubicBezTo>
                  <a:lnTo>
                    <a:pt x="293751" y="1762633"/>
                  </a:lnTo>
                  <a:cubicBezTo>
                    <a:pt x="131572" y="1762760"/>
                    <a:pt x="0" y="1631188"/>
                    <a:pt x="0" y="14690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9203436" y="3401568"/>
            <a:ext cx="96012" cy="1303020"/>
            <a:chOff x="0" y="0"/>
            <a:chExt cx="128016" cy="173736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8016" cy="1737360"/>
            </a:xfrm>
            <a:custGeom>
              <a:avLst/>
              <a:gdLst/>
              <a:ahLst/>
              <a:cxnLst/>
              <a:rect l="l" t="t" r="r" b="b"/>
              <a:pathLst>
                <a:path w="128016" h="1737360">
                  <a:moveTo>
                    <a:pt x="0" y="0"/>
                  </a:moveTo>
                  <a:lnTo>
                    <a:pt x="128016" y="0"/>
                  </a:lnTo>
                  <a:lnTo>
                    <a:pt x="128016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EF7D22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9486900" y="3606927"/>
            <a:ext cx="338328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Database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86900" y="4044696"/>
            <a:ext cx="394874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MongoDB</a:t>
            </a:r>
          </a:p>
          <a:p>
            <a:pPr algn="l">
              <a:lnSpc>
                <a:spcPts val="2189"/>
              </a:lnSpc>
            </a:pPr>
            <a:r>
              <a:rPr lang="en-US" sz="18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Approvals • Compliance • Schemes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3418439" y="3392043"/>
            <a:ext cx="3886962" cy="1322070"/>
            <a:chOff x="0" y="0"/>
            <a:chExt cx="5182616" cy="176276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182616" cy="1762633"/>
            </a:xfrm>
            <a:custGeom>
              <a:avLst/>
              <a:gdLst/>
              <a:ahLst/>
              <a:cxnLst/>
              <a:rect l="l" t="t" r="r" b="b"/>
              <a:pathLst>
                <a:path w="5182616" h="1762633">
                  <a:moveTo>
                    <a:pt x="0" y="293751"/>
                  </a:moveTo>
                  <a:cubicBezTo>
                    <a:pt x="0" y="131572"/>
                    <a:pt x="131572" y="0"/>
                    <a:pt x="293751" y="0"/>
                  </a:cubicBezTo>
                  <a:lnTo>
                    <a:pt x="4888865" y="0"/>
                  </a:lnTo>
                  <a:cubicBezTo>
                    <a:pt x="5051171" y="0"/>
                    <a:pt x="5182616" y="131572"/>
                    <a:pt x="5182616" y="293751"/>
                  </a:cubicBezTo>
                  <a:lnTo>
                    <a:pt x="5182616" y="1468882"/>
                  </a:lnTo>
                  <a:cubicBezTo>
                    <a:pt x="5182616" y="1631188"/>
                    <a:pt x="5051044" y="1762633"/>
                    <a:pt x="4888865" y="1762633"/>
                  </a:cubicBezTo>
                  <a:lnTo>
                    <a:pt x="293751" y="1762633"/>
                  </a:lnTo>
                  <a:cubicBezTo>
                    <a:pt x="131572" y="1762760"/>
                    <a:pt x="0" y="1631188"/>
                    <a:pt x="0" y="14690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3427964" y="3401568"/>
            <a:ext cx="96012" cy="1303020"/>
            <a:chOff x="0" y="0"/>
            <a:chExt cx="128016" cy="173736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8016" cy="1737360"/>
            </a:xfrm>
            <a:custGeom>
              <a:avLst/>
              <a:gdLst/>
              <a:ahLst/>
              <a:cxnLst/>
              <a:rect l="l" t="t" r="r" b="b"/>
              <a:pathLst>
                <a:path w="128016" h="1737360">
                  <a:moveTo>
                    <a:pt x="0" y="0"/>
                  </a:moveTo>
                  <a:lnTo>
                    <a:pt x="128016" y="0"/>
                  </a:lnTo>
                  <a:lnTo>
                    <a:pt x="128016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0F233A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13711428" y="3606927"/>
            <a:ext cx="338328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9"/>
              </a:lnSpc>
            </a:pPr>
            <a:r>
              <a:rPr lang="en-US" sz="2049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Security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711428" y="4035171"/>
            <a:ext cx="338328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9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JWT • Password hashing • RBAC</a:t>
            </a:r>
          </a:p>
          <a:p>
            <a:pPr algn="l">
              <a:lnSpc>
                <a:spcPts val="2309"/>
              </a:lnSpc>
            </a:pPr>
            <a:r>
              <a:rPr lang="en-US" sz="19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Protected role-based access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0956" y="5065014"/>
            <a:ext cx="1638604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 b="1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IMPLEMENTATION FLOW / ARCHITECTURE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879157" y="5583746"/>
            <a:ext cx="2425065" cy="1396365"/>
            <a:chOff x="0" y="0"/>
            <a:chExt cx="3233420" cy="18618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233420" cy="1861693"/>
            </a:xfrm>
            <a:custGeom>
              <a:avLst/>
              <a:gdLst/>
              <a:ahLst/>
              <a:cxnLst/>
              <a:rect l="l" t="t" r="r" b="b"/>
              <a:pathLst>
                <a:path w="3233420" h="1861693">
                  <a:moveTo>
                    <a:pt x="0" y="310261"/>
                  </a:moveTo>
                  <a:cubicBezTo>
                    <a:pt x="0" y="138938"/>
                    <a:pt x="138938" y="0"/>
                    <a:pt x="310261" y="0"/>
                  </a:cubicBezTo>
                  <a:lnTo>
                    <a:pt x="2923159" y="0"/>
                  </a:lnTo>
                  <a:cubicBezTo>
                    <a:pt x="3094482" y="0"/>
                    <a:pt x="3233420" y="138938"/>
                    <a:pt x="3233420" y="310261"/>
                  </a:cubicBezTo>
                  <a:lnTo>
                    <a:pt x="3233420" y="1551432"/>
                  </a:lnTo>
                  <a:cubicBezTo>
                    <a:pt x="3233420" y="1722755"/>
                    <a:pt x="3094482" y="1861693"/>
                    <a:pt x="2923159" y="1861693"/>
                  </a:cubicBezTo>
                  <a:lnTo>
                    <a:pt x="310261" y="1861693"/>
                  </a:lnTo>
                  <a:cubicBezTo>
                    <a:pt x="138938" y="1861820"/>
                    <a:pt x="0" y="1722882"/>
                    <a:pt x="0" y="1551559"/>
                  </a:cubicBezTo>
                  <a:close/>
                </a:path>
              </a:pathLst>
            </a:custGeom>
            <a:solidFill>
              <a:srgbClr val="F1F7FB"/>
            </a:solidFill>
            <a:ln w="24765" cap="sq">
              <a:solidFill>
                <a:srgbClr val="0070C0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960120" y="5719572"/>
            <a:ext cx="2263140" cy="1234440"/>
            <a:chOff x="0" y="0"/>
            <a:chExt cx="3017520" cy="16459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017520" cy="1645920"/>
            </a:xfrm>
            <a:custGeom>
              <a:avLst/>
              <a:gdLst/>
              <a:ahLst/>
              <a:cxnLst/>
              <a:rect l="l" t="t" r="r" b="b"/>
              <a:pathLst>
                <a:path w="3017520" h="1645920">
                  <a:moveTo>
                    <a:pt x="0" y="0"/>
                  </a:moveTo>
                  <a:lnTo>
                    <a:pt x="3017520" y="0"/>
                  </a:lnTo>
                  <a:lnTo>
                    <a:pt x="30175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r="-19983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301752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99"/>
                </a:lnSpc>
              </a:pPr>
              <a:r>
                <a:rPr lang="en-US" sz="1999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 / Admin</a:t>
              </a:r>
            </a:p>
            <a:p>
              <a:pPr algn="ctr">
                <a:lnSpc>
                  <a:spcPts val="2399"/>
                </a:lnSpc>
              </a:pPr>
              <a:r>
                <a:rPr lang="en-US" sz="1999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Web Portal</a:t>
              </a:r>
            </a:p>
          </p:txBody>
        </p:sp>
      </p:grpSp>
      <p:sp>
        <p:nvSpPr>
          <p:cNvPr id="49" name="AutoShape 49"/>
          <p:cNvSpPr/>
          <p:nvPr/>
        </p:nvSpPr>
        <p:spPr>
          <a:xfrm rot="152040">
            <a:off x="3272371" y="6272403"/>
            <a:ext cx="861898" cy="0"/>
          </a:xfrm>
          <a:prstGeom prst="line">
            <a:avLst/>
          </a:prstGeom>
          <a:ln w="19050" cap="rnd">
            <a:solidFill>
              <a:srgbClr val="0070C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0" name="Group 50"/>
          <p:cNvGrpSpPr/>
          <p:nvPr/>
        </p:nvGrpSpPr>
        <p:grpSpPr>
          <a:xfrm>
            <a:off x="4102417" y="5583746"/>
            <a:ext cx="2767965" cy="1396365"/>
            <a:chOff x="0" y="0"/>
            <a:chExt cx="3690620" cy="18618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690620" cy="1861693"/>
            </a:xfrm>
            <a:custGeom>
              <a:avLst/>
              <a:gdLst/>
              <a:ahLst/>
              <a:cxnLst/>
              <a:rect l="l" t="t" r="r" b="b"/>
              <a:pathLst>
                <a:path w="3690620" h="1861693">
                  <a:moveTo>
                    <a:pt x="0" y="310261"/>
                  </a:moveTo>
                  <a:cubicBezTo>
                    <a:pt x="0" y="138938"/>
                    <a:pt x="138938" y="0"/>
                    <a:pt x="310261" y="0"/>
                  </a:cubicBezTo>
                  <a:lnTo>
                    <a:pt x="3380359" y="0"/>
                  </a:lnTo>
                  <a:cubicBezTo>
                    <a:pt x="3551682" y="0"/>
                    <a:pt x="3690620" y="138938"/>
                    <a:pt x="3690620" y="310261"/>
                  </a:cubicBezTo>
                  <a:lnTo>
                    <a:pt x="3690620" y="1551432"/>
                  </a:lnTo>
                  <a:cubicBezTo>
                    <a:pt x="3690620" y="1722755"/>
                    <a:pt x="3551682" y="1861693"/>
                    <a:pt x="3380359" y="1861693"/>
                  </a:cubicBezTo>
                  <a:lnTo>
                    <a:pt x="310261" y="1861693"/>
                  </a:lnTo>
                  <a:cubicBezTo>
                    <a:pt x="138938" y="1861820"/>
                    <a:pt x="0" y="1722882"/>
                    <a:pt x="0" y="1551559"/>
                  </a:cubicBezTo>
                  <a:close/>
                </a:path>
              </a:pathLst>
            </a:custGeom>
            <a:solidFill>
              <a:srgbClr val="F1F7FB"/>
            </a:solidFill>
            <a:ln w="24765" cap="sq">
              <a:solidFill>
                <a:srgbClr val="00897B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4183380" y="5719572"/>
            <a:ext cx="2606040" cy="1234440"/>
            <a:chOff x="0" y="0"/>
            <a:chExt cx="3474720" cy="164592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474720" cy="1645920"/>
            </a:xfrm>
            <a:custGeom>
              <a:avLst/>
              <a:gdLst/>
              <a:ahLst/>
              <a:cxnLst/>
              <a:rect l="l" t="t" r="r" b="b"/>
              <a:pathLst>
                <a:path w="3474720" h="1645920">
                  <a:moveTo>
                    <a:pt x="0" y="0"/>
                  </a:moveTo>
                  <a:lnTo>
                    <a:pt x="3474720" y="0"/>
                  </a:lnTo>
                  <a:lnTo>
                    <a:pt x="3474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75" r="-10775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3474720" cy="1664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19"/>
                </a:lnSpc>
              </a:pPr>
              <a:r>
                <a:rPr lang="en-US" sz="2099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Node.js + Express</a:t>
              </a:r>
            </a:p>
            <a:p>
              <a:pPr algn="ctr">
                <a:lnSpc>
                  <a:spcPts val="2519"/>
                </a:lnSpc>
              </a:pPr>
              <a:r>
                <a:rPr lang="en-US" sz="2099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REST APIs</a:t>
              </a:r>
            </a:p>
          </p:txBody>
        </p:sp>
      </p:grpSp>
      <p:sp>
        <p:nvSpPr>
          <p:cNvPr id="55" name="AutoShape 55"/>
          <p:cNvSpPr/>
          <p:nvPr/>
        </p:nvSpPr>
        <p:spPr>
          <a:xfrm rot="157020">
            <a:off x="6838512" y="6272403"/>
            <a:ext cx="834495" cy="0"/>
          </a:xfrm>
          <a:prstGeom prst="line">
            <a:avLst/>
          </a:prstGeom>
          <a:ln w="19050" cap="rnd">
            <a:solidFill>
              <a:srgbClr val="0070C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6" name="Group 56"/>
          <p:cNvGrpSpPr/>
          <p:nvPr/>
        </p:nvGrpSpPr>
        <p:grpSpPr>
          <a:xfrm>
            <a:off x="7641146" y="5583746"/>
            <a:ext cx="2562225" cy="1396365"/>
            <a:chOff x="0" y="0"/>
            <a:chExt cx="3416300" cy="186182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416300" cy="1861693"/>
            </a:xfrm>
            <a:custGeom>
              <a:avLst/>
              <a:gdLst/>
              <a:ahLst/>
              <a:cxnLst/>
              <a:rect l="l" t="t" r="r" b="b"/>
              <a:pathLst>
                <a:path w="3416300" h="1861693">
                  <a:moveTo>
                    <a:pt x="0" y="310261"/>
                  </a:moveTo>
                  <a:cubicBezTo>
                    <a:pt x="0" y="138938"/>
                    <a:pt x="138938" y="0"/>
                    <a:pt x="310261" y="0"/>
                  </a:cubicBezTo>
                  <a:lnTo>
                    <a:pt x="3106039" y="0"/>
                  </a:lnTo>
                  <a:cubicBezTo>
                    <a:pt x="3277362" y="0"/>
                    <a:pt x="3416300" y="138938"/>
                    <a:pt x="3416300" y="310261"/>
                  </a:cubicBezTo>
                  <a:lnTo>
                    <a:pt x="3416300" y="1551432"/>
                  </a:lnTo>
                  <a:cubicBezTo>
                    <a:pt x="3416300" y="1722755"/>
                    <a:pt x="3277362" y="1861693"/>
                    <a:pt x="3106039" y="1861693"/>
                  </a:cubicBezTo>
                  <a:lnTo>
                    <a:pt x="310261" y="1861693"/>
                  </a:lnTo>
                  <a:cubicBezTo>
                    <a:pt x="138938" y="1861820"/>
                    <a:pt x="0" y="1722882"/>
                    <a:pt x="0" y="1551559"/>
                  </a:cubicBezTo>
                  <a:close/>
                </a:path>
              </a:pathLst>
            </a:custGeom>
            <a:solidFill>
              <a:srgbClr val="F1F7FB"/>
            </a:solidFill>
            <a:ln w="24765" cap="sq">
              <a:solidFill>
                <a:srgbClr val="0F233A"/>
              </a:solidFill>
              <a:prstDash val="solid"/>
              <a:miter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7722108" y="5719572"/>
            <a:ext cx="2400300" cy="1234440"/>
            <a:chOff x="0" y="0"/>
            <a:chExt cx="3200400" cy="164592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200400" cy="1645920"/>
            </a:xfrm>
            <a:custGeom>
              <a:avLst/>
              <a:gdLst/>
              <a:ahLst/>
              <a:cxnLst/>
              <a:rect l="l" t="t" r="r" b="b"/>
              <a:pathLst>
                <a:path w="3200400" h="1645920">
                  <a:moveTo>
                    <a:pt x="0" y="0"/>
                  </a:moveTo>
                  <a:lnTo>
                    <a:pt x="3200400" y="0"/>
                  </a:lnTo>
                  <a:lnTo>
                    <a:pt x="3200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r="-15984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3200400" cy="1664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Auth + JWT</a:t>
              </a:r>
            </a:p>
          </p:txBody>
        </p:sp>
      </p:grpSp>
      <p:sp>
        <p:nvSpPr>
          <p:cNvPr id="61" name="AutoShape 61"/>
          <p:cNvSpPr/>
          <p:nvPr/>
        </p:nvSpPr>
        <p:spPr>
          <a:xfrm rot="159660">
            <a:off x="10171500" y="6272403"/>
            <a:ext cx="820798" cy="0"/>
          </a:xfrm>
          <a:prstGeom prst="line">
            <a:avLst/>
          </a:prstGeom>
          <a:ln w="19050" cap="rnd">
            <a:solidFill>
              <a:srgbClr val="0070C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2" name="Group 62"/>
          <p:cNvGrpSpPr/>
          <p:nvPr/>
        </p:nvGrpSpPr>
        <p:grpSpPr>
          <a:xfrm>
            <a:off x="10960418" y="5583746"/>
            <a:ext cx="2699385" cy="1396365"/>
            <a:chOff x="0" y="0"/>
            <a:chExt cx="3599180" cy="186182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599180" cy="1861693"/>
            </a:xfrm>
            <a:custGeom>
              <a:avLst/>
              <a:gdLst/>
              <a:ahLst/>
              <a:cxnLst/>
              <a:rect l="l" t="t" r="r" b="b"/>
              <a:pathLst>
                <a:path w="3599180" h="1861693">
                  <a:moveTo>
                    <a:pt x="0" y="310261"/>
                  </a:moveTo>
                  <a:cubicBezTo>
                    <a:pt x="0" y="138938"/>
                    <a:pt x="138938" y="0"/>
                    <a:pt x="310261" y="0"/>
                  </a:cubicBezTo>
                  <a:lnTo>
                    <a:pt x="3288919" y="0"/>
                  </a:lnTo>
                  <a:cubicBezTo>
                    <a:pt x="3460242" y="0"/>
                    <a:pt x="3599180" y="138938"/>
                    <a:pt x="3599180" y="310261"/>
                  </a:cubicBezTo>
                  <a:lnTo>
                    <a:pt x="3599180" y="1551432"/>
                  </a:lnTo>
                  <a:cubicBezTo>
                    <a:pt x="3599180" y="1722755"/>
                    <a:pt x="3460242" y="1861693"/>
                    <a:pt x="3288919" y="1861693"/>
                  </a:cubicBezTo>
                  <a:lnTo>
                    <a:pt x="310261" y="1861693"/>
                  </a:lnTo>
                  <a:cubicBezTo>
                    <a:pt x="138938" y="1861820"/>
                    <a:pt x="0" y="1722882"/>
                    <a:pt x="0" y="1551559"/>
                  </a:cubicBezTo>
                  <a:close/>
                </a:path>
              </a:pathLst>
            </a:custGeom>
            <a:solidFill>
              <a:srgbClr val="F1F7FB"/>
            </a:solidFill>
            <a:ln w="24765" cap="sq">
              <a:solidFill>
                <a:srgbClr val="EF7D22"/>
              </a:solidFill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11041380" y="5719572"/>
            <a:ext cx="2537460" cy="1234440"/>
            <a:chOff x="0" y="0"/>
            <a:chExt cx="3383280" cy="164592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383278" cy="1645920"/>
            </a:xfrm>
            <a:custGeom>
              <a:avLst/>
              <a:gdLst/>
              <a:ahLst/>
              <a:cxnLst/>
              <a:rect l="l" t="t" r="r" b="b"/>
              <a:pathLst>
                <a:path w="3383278" h="1645920">
                  <a:moveTo>
                    <a:pt x="0" y="0"/>
                  </a:moveTo>
                  <a:lnTo>
                    <a:pt x="3383278" y="0"/>
                  </a:lnTo>
                  <a:lnTo>
                    <a:pt x="3383278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417" r="-12418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3383280" cy="1664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MongoDB</a:t>
              </a:r>
            </a:p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Core Data</a:t>
              </a:r>
            </a:p>
          </p:txBody>
        </p:sp>
      </p:grpSp>
      <p:sp>
        <p:nvSpPr>
          <p:cNvPr id="67" name="AutoShape 67"/>
          <p:cNvSpPr/>
          <p:nvPr/>
        </p:nvSpPr>
        <p:spPr>
          <a:xfrm rot="165120">
            <a:off x="13627913" y="6272403"/>
            <a:ext cx="793394" cy="0"/>
          </a:xfrm>
          <a:prstGeom prst="line">
            <a:avLst/>
          </a:prstGeom>
          <a:ln w="19050" cap="rnd">
            <a:solidFill>
              <a:srgbClr val="0070C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8" name="Group 68"/>
          <p:cNvGrpSpPr/>
          <p:nvPr/>
        </p:nvGrpSpPr>
        <p:grpSpPr>
          <a:xfrm>
            <a:off x="14389418" y="5583746"/>
            <a:ext cx="2905125" cy="1396365"/>
            <a:chOff x="0" y="0"/>
            <a:chExt cx="3873500" cy="186182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873500" cy="1861693"/>
            </a:xfrm>
            <a:custGeom>
              <a:avLst/>
              <a:gdLst/>
              <a:ahLst/>
              <a:cxnLst/>
              <a:rect l="l" t="t" r="r" b="b"/>
              <a:pathLst>
                <a:path w="3873500" h="1861693">
                  <a:moveTo>
                    <a:pt x="0" y="310261"/>
                  </a:moveTo>
                  <a:cubicBezTo>
                    <a:pt x="0" y="138938"/>
                    <a:pt x="138938" y="0"/>
                    <a:pt x="310261" y="0"/>
                  </a:cubicBezTo>
                  <a:lnTo>
                    <a:pt x="3563239" y="0"/>
                  </a:lnTo>
                  <a:cubicBezTo>
                    <a:pt x="3734562" y="0"/>
                    <a:pt x="3873500" y="138938"/>
                    <a:pt x="3873500" y="310261"/>
                  </a:cubicBezTo>
                  <a:lnTo>
                    <a:pt x="3873500" y="1551432"/>
                  </a:lnTo>
                  <a:cubicBezTo>
                    <a:pt x="3873500" y="1722755"/>
                    <a:pt x="3734562" y="1861693"/>
                    <a:pt x="3563239" y="1861693"/>
                  </a:cubicBezTo>
                  <a:lnTo>
                    <a:pt x="310261" y="1861693"/>
                  </a:lnTo>
                  <a:cubicBezTo>
                    <a:pt x="138938" y="1861820"/>
                    <a:pt x="0" y="1722882"/>
                    <a:pt x="0" y="1551559"/>
                  </a:cubicBezTo>
                  <a:close/>
                </a:path>
              </a:pathLst>
            </a:custGeom>
            <a:solidFill>
              <a:srgbClr val="F1F7FB"/>
            </a:solidFill>
            <a:ln w="24765" cap="sq">
              <a:solidFill>
                <a:srgbClr val="00897B"/>
              </a:solidFill>
              <a:prstDash val="solid"/>
              <a:miter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14405135" y="5610830"/>
            <a:ext cx="2743200" cy="1234440"/>
            <a:chOff x="0" y="0"/>
            <a:chExt cx="3657600" cy="164592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3657600" cy="1645920"/>
            </a:xfrm>
            <a:custGeom>
              <a:avLst/>
              <a:gdLst/>
              <a:ahLst/>
              <a:cxnLst/>
              <a:rect l="l" t="t" r="r" b="b"/>
              <a:pathLst>
                <a:path w="3657600" h="1645920">
                  <a:moveTo>
                    <a:pt x="0" y="0"/>
                  </a:moveTo>
                  <a:lnTo>
                    <a:pt x="3657600" y="0"/>
                  </a:lnTo>
                  <a:lnTo>
                    <a:pt x="3657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r="-7736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3657600" cy="1664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89"/>
                </a:lnSpc>
              </a:pPr>
              <a:r>
                <a:rPr lang="en-US" sz="1824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Services</a:t>
              </a:r>
            </a:p>
            <a:p>
              <a:pPr algn="ctr">
                <a:lnSpc>
                  <a:spcPts val="2189"/>
                </a:lnSpc>
              </a:pPr>
              <a:r>
                <a:rPr lang="en-US" sz="1824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Alerts • Schemes • Docs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097280" y="7612380"/>
            <a:ext cx="3497580" cy="466344"/>
            <a:chOff x="0" y="0"/>
            <a:chExt cx="4663440" cy="62179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4663440" cy="621792"/>
            </a:xfrm>
            <a:custGeom>
              <a:avLst/>
              <a:gdLst/>
              <a:ahLst/>
              <a:cxnLst/>
              <a:rect l="l" t="t" r="r" b="b"/>
              <a:pathLst>
                <a:path w="4663440" h="621792">
                  <a:moveTo>
                    <a:pt x="0" y="103632"/>
                  </a:moveTo>
                  <a:cubicBezTo>
                    <a:pt x="0" y="46355"/>
                    <a:pt x="46355" y="0"/>
                    <a:pt x="103632" y="0"/>
                  </a:cubicBezTo>
                  <a:lnTo>
                    <a:pt x="4559808" y="0"/>
                  </a:lnTo>
                  <a:cubicBezTo>
                    <a:pt x="4617085" y="0"/>
                    <a:pt x="4663440" y="46355"/>
                    <a:pt x="4663440" y="103632"/>
                  </a:cubicBezTo>
                  <a:lnTo>
                    <a:pt x="4663440" y="518160"/>
                  </a:lnTo>
                  <a:cubicBezTo>
                    <a:pt x="4663440" y="575437"/>
                    <a:pt x="4617085" y="621792"/>
                    <a:pt x="4559808" y="621792"/>
                  </a:cubicBezTo>
                  <a:lnTo>
                    <a:pt x="103632" y="621792"/>
                  </a:lnTo>
                  <a:cubicBezTo>
                    <a:pt x="46355" y="621792"/>
                    <a:pt x="0" y="575437"/>
                    <a:pt x="0" y="518160"/>
                  </a:cubicBezTo>
                  <a:close/>
                </a:path>
              </a:pathLst>
            </a:custGeom>
            <a:solidFill>
              <a:srgbClr val="F1F7FB"/>
            </a:solidFill>
          </p:spPr>
        </p:sp>
      </p:grpSp>
      <p:sp>
        <p:nvSpPr>
          <p:cNvPr id="75" name="TextBox 75"/>
          <p:cNvSpPr txBox="1"/>
          <p:nvPr/>
        </p:nvSpPr>
        <p:spPr>
          <a:xfrm>
            <a:off x="1097280" y="7644003"/>
            <a:ext cx="349758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1"/>
              </a:lnSpc>
            </a:pPr>
            <a:r>
              <a:rPr lang="en-US" sz="2009" b="1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Approvals &amp; tracking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5239512" y="7612380"/>
            <a:ext cx="3497580" cy="466344"/>
            <a:chOff x="0" y="0"/>
            <a:chExt cx="4663440" cy="62179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663440" cy="621792"/>
            </a:xfrm>
            <a:custGeom>
              <a:avLst/>
              <a:gdLst/>
              <a:ahLst/>
              <a:cxnLst/>
              <a:rect l="l" t="t" r="r" b="b"/>
              <a:pathLst>
                <a:path w="4663440" h="621792">
                  <a:moveTo>
                    <a:pt x="0" y="103632"/>
                  </a:moveTo>
                  <a:cubicBezTo>
                    <a:pt x="0" y="46355"/>
                    <a:pt x="46355" y="0"/>
                    <a:pt x="103632" y="0"/>
                  </a:cubicBezTo>
                  <a:lnTo>
                    <a:pt x="4559808" y="0"/>
                  </a:lnTo>
                  <a:cubicBezTo>
                    <a:pt x="4617085" y="0"/>
                    <a:pt x="4663440" y="46355"/>
                    <a:pt x="4663440" y="103632"/>
                  </a:cubicBezTo>
                  <a:lnTo>
                    <a:pt x="4663440" y="518160"/>
                  </a:lnTo>
                  <a:cubicBezTo>
                    <a:pt x="4663440" y="575437"/>
                    <a:pt x="4617085" y="621792"/>
                    <a:pt x="4559808" y="621792"/>
                  </a:cubicBezTo>
                  <a:lnTo>
                    <a:pt x="103632" y="621792"/>
                  </a:lnTo>
                  <a:cubicBezTo>
                    <a:pt x="46355" y="621792"/>
                    <a:pt x="0" y="575437"/>
                    <a:pt x="0" y="518160"/>
                  </a:cubicBezTo>
                  <a:close/>
                </a:path>
              </a:pathLst>
            </a:custGeom>
            <a:solidFill>
              <a:srgbClr val="F1F7FB"/>
            </a:solidFill>
          </p:spPr>
        </p:sp>
      </p:grpSp>
      <p:sp>
        <p:nvSpPr>
          <p:cNvPr id="78" name="TextBox 78"/>
          <p:cNvSpPr txBox="1"/>
          <p:nvPr/>
        </p:nvSpPr>
        <p:spPr>
          <a:xfrm>
            <a:off x="5239512" y="7634478"/>
            <a:ext cx="349758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1"/>
              </a:lnSpc>
            </a:pPr>
            <a:r>
              <a:rPr lang="en-US" sz="1809" b="1">
                <a:solidFill>
                  <a:srgbClr val="00897B"/>
                </a:solidFill>
                <a:latin typeface="Arial Bold"/>
                <a:ea typeface="Arial Bold"/>
                <a:cs typeface="Arial Bold"/>
                <a:sym typeface="Arial Bold"/>
              </a:rPr>
              <a:t>Compliance &amp; deadlines</a:t>
            </a:r>
          </a:p>
        </p:txBody>
      </p:sp>
      <p:grpSp>
        <p:nvGrpSpPr>
          <p:cNvPr id="79" name="Group 79"/>
          <p:cNvGrpSpPr/>
          <p:nvPr/>
        </p:nvGrpSpPr>
        <p:grpSpPr>
          <a:xfrm>
            <a:off x="9381744" y="7612380"/>
            <a:ext cx="3497580" cy="466344"/>
            <a:chOff x="0" y="0"/>
            <a:chExt cx="4663440" cy="62179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663440" cy="621792"/>
            </a:xfrm>
            <a:custGeom>
              <a:avLst/>
              <a:gdLst/>
              <a:ahLst/>
              <a:cxnLst/>
              <a:rect l="l" t="t" r="r" b="b"/>
              <a:pathLst>
                <a:path w="4663440" h="621792">
                  <a:moveTo>
                    <a:pt x="0" y="103632"/>
                  </a:moveTo>
                  <a:cubicBezTo>
                    <a:pt x="0" y="46355"/>
                    <a:pt x="46355" y="0"/>
                    <a:pt x="103632" y="0"/>
                  </a:cubicBezTo>
                  <a:lnTo>
                    <a:pt x="4559808" y="0"/>
                  </a:lnTo>
                  <a:cubicBezTo>
                    <a:pt x="4617085" y="0"/>
                    <a:pt x="4663440" y="46355"/>
                    <a:pt x="4663440" y="103632"/>
                  </a:cubicBezTo>
                  <a:lnTo>
                    <a:pt x="4663440" y="518160"/>
                  </a:lnTo>
                  <a:cubicBezTo>
                    <a:pt x="4663440" y="575437"/>
                    <a:pt x="4617085" y="621792"/>
                    <a:pt x="4559808" y="621792"/>
                  </a:cubicBezTo>
                  <a:lnTo>
                    <a:pt x="103632" y="621792"/>
                  </a:lnTo>
                  <a:cubicBezTo>
                    <a:pt x="46355" y="621792"/>
                    <a:pt x="0" y="575437"/>
                    <a:pt x="0" y="518160"/>
                  </a:cubicBezTo>
                  <a:close/>
                </a:path>
              </a:pathLst>
            </a:custGeom>
            <a:solidFill>
              <a:srgbClr val="F1F7FB"/>
            </a:solidFill>
          </p:spPr>
        </p:sp>
      </p:grpSp>
      <p:sp>
        <p:nvSpPr>
          <p:cNvPr id="81" name="TextBox 81"/>
          <p:cNvSpPr txBox="1"/>
          <p:nvPr/>
        </p:nvSpPr>
        <p:spPr>
          <a:xfrm>
            <a:off x="9381744" y="7644003"/>
            <a:ext cx="349758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1"/>
              </a:lnSpc>
            </a:pPr>
            <a:r>
              <a:rPr lang="en-US" sz="2009" b="1">
                <a:solidFill>
                  <a:srgbClr val="EF7D22"/>
                </a:solidFill>
                <a:latin typeface="Arial Bold"/>
                <a:ea typeface="Arial Bold"/>
                <a:cs typeface="Arial Bold"/>
                <a:sym typeface="Arial Bold"/>
              </a:rPr>
              <a:t>Schemes &amp; eligibility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13523976" y="7612380"/>
            <a:ext cx="3497580" cy="466344"/>
            <a:chOff x="0" y="0"/>
            <a:chExt cx="4663440" cy="621792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4663440" cy="621792"/>
            </a:xfrm>
            <a:custGeom>
              <a:avLst/>
              <a:gdLst/>
              <a:ahLst/>
              <a:cxnLst/>
              <a:rect l="l" t="t" r="r" b="b"/>
              <a:pathLst>
                <a:path w="4663440" h="621792">
                  <a:moveTo>
                    <a:pt x="0" y="103632"/>
                  </a:moveTo>
                  <a:cubicBezTo>
                    <a:pt x="0" y="46355"/>
                    <a:pt x="46355" y="0"/>
                    <a:pt x="103632" y="0"/>
                  </a:cubicBezTo>
                  <a:lnTo>
                    <a:pt x="4559808" y="0"/>
                  </a:lnTo>
                  <a:cubicBezTo>
                    <a:pt x="4617085" y="0"/>
                    <a:pt x="4663440" y="46355"/>
                    <a:pt x="4663440" y="103632"/>
                  </a:cubicBezTo>
                  <a:lnTo>
                    <a:pt x="4663440" y="518160"/>
                  </a:lnTo>
                  <a:cubicBezTo>
                    <a:pt x="4663440" y="575437"/>
                    <a:pt x="4617085" y="621792"/>
                    <a:pt x="4559808" y="621792"/>
                  </a:cubicBezTo>
                  <a:lnTo>
                    <a:pt x="103632" y="621792"/>
                  </a:lnTo>
                  <a:cubicBezTo>
                    <a:pt x="46355" y="621792"/>
                    <a:pt x="0" y="575437"/>
                    <a:pt x="0" y="518160"/>
                  </a:cubicBezTo>
                  <a:close/>
                </a:path>
              </a:pathLst>
            </a:custGeom>
            <a:solidFill>
              <a:srgbClr val="F1F7FB"/>
            </a:solidFill>
          </p:spPr>
        </p:sp>
      </p:grpSp>
      <p:sp>
        <p:nvSpPr>
          <p:cNvPr id="84" name="TextBox 84"/>
          <p:cNvSpPr txBox="1"/>
          <p:nvPr/>
        </p:nvSpPr>
        <p:spPr>
          <a:xfrm>
            <a:off x="13523976" y="7634478"/>
            <a:ext cx="349758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1"/>
              </a:lnSpc>
            </a:pPr>
            <a:r>
              <a:rPr lang="en-US" sz="1809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Telegram Bot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065276" y="8383143"/>
            <a:ext cx="1597456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22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Core data: Users • Industries • Approvals/Applications • Documents • Compliance Rules/Status • Schemes/Eligibility • 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081199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4662" y="378371"/>
            <a:ext cx="1877787" cy="1210999"/>
            <a:chOff x="0" y="0"/>
            <a:chExt cx="2503716" cy="1614665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03678" cy="1614678"/>
            </a:xfrm>
            <a:custGeom>
              <a:avLst/>
              <a:gdLst/>
              <a:ahLst/>
              <a:cxnLst/>
              <a:rect l="l" t="t" r="r" b="b"/>
              <a:pathLst>
                <a:path w="2503678" h="1614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503716" cy="1633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CyberSix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790956" y="2966466"/>
            <a:ext cx="1638604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274" b="1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FEASIBILITY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44855" y="3392043"/>
            <a:ext cx="5299710" cy="1870710"/>
            <a:chOff x="0" y="0"/>
            <a:chExt cx="7066280" cy="24942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066280" cy="2494280"/>
            </a:xfrm>
            <a:custGeom>
              <a:avLst/>
              <a:gdLst/>
              <a:ahLst/>
              <a:cxnLst/>
              <a:rect l="l" t="t" r="r" b="b"/>
              <a:pathLst>
                <a:path w="7066280" h="2494280">
                  <a:moveTo>
                    <a:pt x="0" y="415671"/>
                  </a:moveTo>
                  <a:cubicBezTo>
                    <a:pt x="0" y="186182"/>
                    <a:pt x="186182" y="0"/>
                    <a:pt x="415671" y="0"/>
                  </a:cubicBezTo>
                  <a:lnTo>
                    <a:pt x="6650609" y="0"/>
                  </a:lnTo>
                  <a:cubicBezTo>
                    <a:pt x="6880225" y="0"/>
                    <a:pt x="7066280" y="186182"/>
                    <a:pt x="7066280" y="415671"/>
                  </a:cubicBezTo>
                  <a:lnTo>
                    <a:pt x="7066280" y="2078609"/>
                  </a:lnTo>
                  <a:cubicBezTo>
                    <a:pt x="7066280" y="2308225"/>
                    <a:pt x="6880098" y="2494280"/>
                    <a:pt x="6650609" y="2494280"/>
                  </a:cubicBezTo>
                  <a:lnTo>
                    <a:pt x="415671" y="2494280"/>
                  </a:lnTo>
                  <a:cubicBezTo>
                    <a:pt x="186182" y="2494280"/>
                    <a:pt x="0" y="2308098"/>
                    <a:pt x="0" y="20786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54380" y="3401568"/>
            <a:ext cx="96012" cy="1851660"/>
            <a:chOff x="0" y="0"/>
            <a:chExt cx="128016" cy="24688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8016" cy="2468880"/>
            </a:xfrm>
            <a:custGeom>
              <a:avLst/>
              <a:gdLst/>
              <a:ahLst/>
              <a:cxnLst/>
              <a:rect l="l" t="t" r="r" b="b"/>
              <a:pathLst>
                <a:path w="128016" h="2468880">
                  <a:moveTo>
                    <a:pt x="0" y="0"/>
                  </a:moveTo>
                  <a:lnTo>
                    <a:pt x="128016" y="0"/>
                  </a:lnTo>
                  <a:lnTo>
                    <a:pt x="128016" y="2468880"/>
                  </a:lnTo>
                  <a:lnTo>
                    <a:pt x="0" y="246888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037844" y="3616452"/>
            <a:ext cx="4796028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Technical feasibility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7844" y="4044696"/>
            <a:ext cx="4796028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9"/>
              </a:lnSpc>
            </a:pPr>
            <a:r>
              <a:rPr lang="en-US" sz="20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Established web stack + modular Node.js/MongoDB services; prototype already maps core user journeys.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44855" y="5504307"/>
            <a:ext cx="5299710" cy="1870710"/>
            <a:chOff x="0" y="0"/>
            <a:chExt cx="7066280" cy="249428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066280" cy="2494280"/>
            </a:xfrm>
            <a:custGeom>
              <a:avLst/>
              <a:gdLst/>
              <a:ahLst/>
              <a:cxnLst/>
              <a:rect l="l" t="t" r="r" b="b"/>
              <a:pathLst>
                <a:path w="7066280" h="2494280">
                  <a:moveTo>
                    <a:pt x="0" y="415671"/>
                  </a:moveTo>
                  <a:cubicBezTo>
                    <a:pt x="0" y="186182"/>
                    <a:pt x="186182" y="0"/>
                    <a:pt x="415671" y="0"/>
                  </a:cubicBezTo>
                  <a:lnTo>
                    <a:pt x="6650609" y="0"/>
                  </a:lnTo>
                  <a:cubicBezTo>
                    <a:pt x="6880225" y="0"/>
                    <a:pt x="7066280" y="186182"/>
                    <a:pt x="7066280" y="415671"/>
                  </a:cubicBezTo>
                  <a:lnTo>
                    <a:pt x="7066280" y="2078609"/>
                  </a:lnTo>
                  <a:cubicBezTo>
                    <a:pt x="7066280" y="2308225"/>
                    <a:pt x="6880098" y="2494280"/>
                    <a:pt x="6650609" y="2494280"/>
                  </a:cubicBezTo>
                  <a:lnTo>
                    <a:pt x="415671" y="2494280"/>
                  </a:lnTo>
                  <a:cubicBezTo>
                    <a:pt x="186182" y="2494280"/>
                    <a:pt x="0" y="2308098"/>
                    <a:pt x="0" y="20786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54380" y="5513832"/>
            <a:ext cx="96012" cy="1851660"/>
            <a:chOff x="0" y="0"/>
            <a:chExt cx="128016" cy="24688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8016" cy="2468880"/>
            </a:xfrm>
            <a:custGeom>
              <a:avLst/>
              <a:gdLst/>
              <a:ahLst/>
              <a:cxnLst/>
              <a:rect l="l" t="t" r="r" b="b"/>
              <a:pathLst>
                <a:path w="128016" h="2468880">
                  <a:moveTo>
                    <a:pt x="0" y="0"/>
                  </a:moveTo>
                  <a:lnTo>
                    <a:pt x="128016" y="0"/>
                  </a:lnTo>
                  <a:lnTo>
                    <a:pt x="128016" y="2468880"/>
                  </a:lnTo>
                  <a:lnTo>
                    <a:pt x="0" y="2468880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1037844" y="5728716"/>
            <a:ext cx="4796028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Operational feasibility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7844" y="6147435"/>
            <a:ext cx="4796028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One account centralises industry details, applications, documents, compliance tasks, schemes and alerts.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44855" y="7616571"/>
            <a:ext cx="5299710" cy="1390650"/>
            <a:chOff x="0" y="0"/>
            <a:chExt cx="7066280" cy="1854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066280" cy="1854073"/>
            </a:xfrm>
            <a:custGeom>
              <a:avLst/>
              <a:gdLst/>
              <a:ahLst/>
              <a:cxnLst/>
              <a:rect l="l" t="t" r="r" b="b"/>
              <a:pathLst>
                <a:path w="7066280" h="1854073">
                  <a:moveTo>
                    <a:pt x="0" y="308991"/>
                  </a:moveTo>
                  <a:cubicBezTo>
                    <a:pt x="0" y="138303"/>
                    <a:pt x="138303" y="0"/>
                    <a:pt x="308991" y="0"/>
                  </a:cubicBezTo>
                  <a:lnTo>
                    <a:pt x="6757289" y="0"/>
                  </a:lnTo>
                  <a:cubicBezTo>
                    <a:pt x="6927977" y="0"/>
                    <a:pt x="7066280" y="138303"/>
                    <a:pt x="7066280" y="308991"/>
                  </a:cubicBezTo>
                  <a:lnTo>
                    <a:pt x="7066280" y="1545082"/>
                  </a:lnTo>
                  <a:cubicBezTo>
                    <a:pt x="7066280" y="1715770"/>
                    <a:pt x="6927977" y="1854073"/>
                    <a:pt x="6757289" y="1854073"/>
                  </a:cubicBezTo>
                  <a:lnTo>
                    <a:pt x="308991" y="1854073"/>
                  </a:lnTo>
                  <a:cubicBezTo>
                    <a:pt x="138303" y="1854200"/>
                    <a:pt x="0" y="1715897"/>
                    <a:pt x="0" y="15452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54380" y="7626096"/>
            <a:ext cx="96012" cy="1371600"/>
            <a:chOff x="0" y="0"/>
            <a:chExt cx="128016" cy="1828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8016" cy="1828800"/>
            </a:xfrm>
            <a:custGeom>
              <a:avLst/>
              <a:gdLst/>
              <a:ahLst/>
              <a:cxnLst/>
              <a:rect l="l" t="t" r="r" b="b"/>
              <a:pathLst>
                <a:path w="128016" h="1828800">
                  <a:moveTo>
                    <a:pt x="0" y="0"/>
                  </a:moveTo>
                  <a:lnTo>
                    <a:pt x="128016" y="0"/>
                  </a:lnTo>
                  <a:lnTo>
                    <a:pt x="128016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EF7D22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1037844" y="7821930"/>
            <a:ext cx="4796028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Scalable design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37844" y="8278749"/>
            <a:ext cx="479602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6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Modular approval, compliance, scheme and notification services support phased rollout and future integrations.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51676" y="2966466"/>
            <a:ext cx="431596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274" b="1">
                <a:solidFill>
                  <a:srgbClr val="EF7D22"/>
                </a:solidFill>
                <a:latin typeface="Arial Bold"/>
                <a:ea typeface="Arial Bold"/>
                <a:cs typeface="Arial Bold"/>
                <a:sym typeface="Arial Bold"/>
              </a:rPr>
              <a:t>KEY CHALLENGES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6505575" y="3392043"/>
            <a:ext cx="4613910" cy="1143762"/>
            <a:chOff x="0" y="0"/>
            <a:chExt cx="6151880" cy="152501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151880" cy="1524889"/>
            </a:xfrm>
            <a:custGeom>
              <a:avLst/>
              <a:gdLst/>
              <a:ahLst/>
              <a:cxnLst/>
              <a:rect l="l" t="t" r="r" b="b"/>
              <a:pathLst>
                <a:path w="6151880" h="1524889">
                  <a:moveTo>
                    <a:pt x="0" y="254127"/>
                  </a:moveTo>
                  <a:cubicBezTo>
                    <a:pt x="0" y="113792"/>
                    <a:pt x="113792" y="0"/>
                    <a:pt x="254127" y="0"/>
                  </a:cubicBezTo>
                  <a:lnTo>
                    <a:pt x="5897753" y="0"/>
                  </a:lnTo>
                  <a:cubicBezTo>
                    <a:pt x="6038088" y="0"/>
                    <a:pt x="6151880" y="113792"/>
                    <a:pt x="6151880" y="254127"/>
                  </a:cubicBezTo>
                  <a:lnTo>
                    <a:pt x="6151880" y="1270762"/>
                  </a:lnTo>
                  <a:cubicBezTo>
                    <a:pt x="6151880" y="1411097"/>
                    <a:pt x="6038088" y="1524889"/>
                    <a:pt x="5897753" y="1524889"/>
                  </a:cubicBezTo>
                  <a:lnTo>
                    <a:pt x="254127" y="1524889"/>
                  </a:lnTo>
                  <a:cubicBezTo>
                    <a:pt x="113792" y="1525016"/>
                    <a:pt x="0" y="1411224"/>
                    <a:pt x="0" y="12708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515100" y="3401568"/>
            <a:ext cx="96012" cy="1124712"/>
            <a:chOff x="0" y="0"/>
            <a:chExt cx="128016" cy="149961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8016" cy="1499616"/>
            </a:xfrm>
            <a:custGeom>
              <a:avLst/>
              <a:gdLst/>
              <a:ahLst/>
              <a:cxnLst/>
              <a:rect l="l" t="t" r="r" b="b"/>
              <a:pathLst>
                <a:path w="128016" h="1499616">
                  <a:moveTo>
                    <a:pt x="0" y="0"/>
                  </a:moveTo>
                  <a:lnTo>
                    <a:pt x="128016" y="0"/>
                  </a:lnTo>
                  <a:lnTo>
                    <a:pt x="128016" y="1499616"/>
                  </a:lnTo>
                  <a:lnTo>
                    <a:pt x="0" y="1499616"/>
                  </a:lnTo>
                  <a:close/>
                </a:path>
              </a:pathLst>
            </a:custGeom>
            <a:solidFill>
              <a:srgbClr val="EF7D22"/>
            </a:solidFill>
          </p:spPr>
        </p:sp>
      </p:grpSp>
      <p:sp>
        <p:nvSpPr>
          <p:cNvPr id="42" name="TextBox 42"/>
          <p:cNvSpPr txBox="1"/>
          <p:nvPr/>
        </p:nvSpPr>
        <p:spPr>
          <a:xfrm>
            <a:off x="6798564" y="3587877"/>
            <a:ext cx="411022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Regulatory changes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798564" y="4063746"/>
            <a:ext cx="6850533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7"/>
              </a:lnSpc>
            </a:pPr>
            <a:r>
              <a:rPr lang="en-US" sz="1689">
                <a:solidFill>
                  <a:srgbClr val="5C6E7E"/>
                </a:solidFill>
                <a:latin typeface="Arial"/>
                <a:ea typeface="Arial"/>
                <a:cs typeface="Arial"/>
                <a:sym typeface="Arial"/>
              </a:rPr>
              <a:t>Rules, schemes and deadlines can change.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6505575" y="4736211"/>
            <a:ext cx="4613910" cy="1143762"/>
            <a:chOff x="0" y="0"/>
            <a:chExt cx="6151880" cy="152501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151880" cy="1524889"/>
            </a:xfrm>
            <a:custGeom>
              <a:avLst/>
              <a:gdLst/>
              <a:ahLst/>
              <a:cxnLst/>
              <a:rect l="l" t="t" r="r" b="b"/>
              <a:pathLst>
                <a:path w="6151880" h="1524889">
                  <a:moveTo>
                    <a:pt x="0" y="254127"/>
                  </a:moveTo>
                  <a:cubicBezTo>
                    <a:pt x="0" y="113792"/>
                    <a:pt x="113792" y="0"/>
                    <a:pt x="254127" y="0"/>
                  </a:cubicBezTo>
                  <a:lnTo>
                    <a:pt x="5897753" y="0"/>
                  </a:lnTo>
                  <a:cubicBezTo>
                    <a:pt x="6038088" y="0"/>
                    <a:pt x="6151880" y="113792"/>
                    <a:pt x="6151880" y="254127"/>
                  </a:cubicBezTo>
                  <a:lnTo>
                    <a:pt x="6151880" y="1270762"/>
                  </a:lnTo>
                  <a:cubicBezTo>
                    <a:pt x="6151880" y="1411097"/>
                    <a:pt x="6038088" y="1524889"/>
                    <a:pt x="5897753" y="1524889"/>
                  </a:cubicBezTo>
                  <a:lnTo>
                    <a:pt x="254127" y="1524889"/>
                  </a:lnTo>
                  <a:cubicBezTo>
                    <a:pt x="113792" y="1525016"/>
                    <a:pt x="0" y="1411224"/>
                    <a:pt x="0" y="12708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6515100" y="4745736"/>
            <a:ext cx="96012" cy="1124712"/>
            <a:chOff x="0" y="0"/>
            <a:chExt cx="128016" cy="149961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28016" cy="1499616"/>
            </a:xfrm>
            <a:custGeom>
              <a:avLst/>
              <a:gdLst/>
              <a:ahLst/>
              <a:cxnLst/>
              <a:rect l="l" t="t" r="r" b="b"/>
              <a:pathLst>
                <a:path w="128016" h="1499616">
                  <a:moveTo>
                    <a:pt x="0" y="0"/>
                  </a:moveTo>
                  <a:lnTo>
                    <a:pt x="128016" y="0"/>
                  </a:lnTo>
                  <a:lnTo>
                    <a:pt x="128016" y="1499616"/>
                  </a:lnTo>
                  <a:lnTo>
                    <a:pt x="0" y="1499616"/>
                  </a:lnTo>
                  <a:close/>
                </a:path>
              </a:pathLst>
            </a:custGeom>
            <a:solidFill>
              <a:srgbClr val="EF7D22"/>
            </a:solidFill>
          </p:spPr>
        </p:sp>
      </p:grpSp>
      <p:sp>
        <p:nvSpPr>
          <p:cNvPr id="48" name="TextBox 48"/>
          <p:cNvSpPr txBox="1"/>
          <p:nvPr/>
        </p:nvSpPr>
        <p:spPr>
          <a:xfrm>
            <a:off x="6798564" y="4951095"/>
            <a:ext cx="411022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Document security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798564" y="5407914"/>
            <a:ext cx="411022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7"/>
              </a:lnSpc>
            </a:pPr>
            <a:r>
              <a:rPr lang="en-US" sz="1689">
                <a:solidFill>
                  <a:srgbClr val="5C6E7E"/>
                </a:solidFill>
                <a:latin typeface="Arial"/>
                <a:ea typeface="Arial"/>
                <a:cs typeface="Arial"/>
                <a:sym typeface="Arial"/>
              </a:rPr>
              <a:t>Applications contain business documents.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6505575" y="6080379"/>
            <a:ext cx="4613910" cy="1143762"/>
            <a:chOff x="0" y="0"/>
            <a:chExt cx="6151880" cy="152501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151880" cy="1524889"/>
            </a:xfrm>
            <a:custGeom>
              <a:avLst/>
              <a:gdLst/>
              <a:ahLst/>
              <a:cxnLst/>
              <a:rect l="l" t="t" r="r" b="b"/>
              <a:pathLst>
                <a:path w="6151880" h="1524889">
                  <a:moveTo>
                    <a:pt x="0" y="254127"/>
                  </a:moveTo>
                  <a:cubicBezTo>
                    <a:pt x="0" y="113792"/>
                    <a:pt x="113792" y="0"/>
                    <a:pt x="254127" y="0"/>
                  </a:cubicBezTo>
                  <a:lnTo>
                    <a:pt x="5897753" y="0"/>
                  </a:lnTo>
                  <a:cubicBezTo>
                    <a:pt x="6038088" y="0"/>
                    <a:pt x="6151880" y="113792"/>
                    <a:pt x="6151880" y="254127"/>
                  </a:cubicBezTo>
                  <a:lnTo>
                    <a:pt x="6151880" y="1270762"/>
                  </a:lnTo>
                  <a:cubicBezTo>
                    <a:pt x="6151880" y="1411097"/>
                    <a:pt x="6038088" y="1524889"/>
                    <a:pt x="5897753" y="1524889"/>
                  </a:cubicBezTo>
                  <a:lnTo>
                    <a:pt x="254127" y="1524889"/>
                  </a:lnTo>
                  <a:cubicBezTo>
                    <a:pt x="113792" y="1525016"/>
                    <a:pt x="0" y="1411224"/>
                    <a:pt x="0" y="12708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6515100" y="6089904"/>
            <a:ext cx="96012" cy="1124712"/>
            <a:chOff x="0" y="0"/>
            <a:chExt cx="128016" cy="149961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8016" cy="1499616"/>
            </a:xfrm>
            <a:custGeom>
              <a:avLst/>
              <a:gdLst/>
              <a:ahLst/>
              <a:cxnLst/>
              <a:rect l="l" t="t" r="r" b="b"/>
              <a:pathLst>
                <a:path w="128016" h="1499616">
                  <a:moveTo>
                    <a:pt x="0" y="0"/>
                  </a:moveTo>
                  <a:lnTo>
                    <a:pt x="128016" y="0"/>
                  </a:lnTo>
                  <a:lnTo>
                    <a:pt x="128016" y="1499616"/>
                  </a:lnTo>
                  <a:lnTo>
                    <a:pt x="0" y="1499616"/>
                  </a:lnTo>
                  <a:close/>
                </a:path>
              </a:pathLst>
            </a:custGeom>
            <a:solidFill>
              <a:srgbClr val="EF7D22"/>
            </a:solidFill>
          </p:spPr>
        </p:sp>
      </p:grpSp>
      <p:sp>
        <p:nvSpPr>
          <p:cNvPr id="54" name="TextBox 54"/>
          <p:cNvSpPr txBox="1"/>
          <p:nvPr/>
        </p:nvSpPr>
        <p:spPr>
          <a:xfrm>
            <a:off x="6798564" y="6276213"/>
            <a:ext cx="411022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External integration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798564" y="6761607"/>
            <a:ext cx="4110228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489">
                <a:solidFill>
                  <a:srgbClr val="5C6E7E"/>
                </a:solidFill>
                <a:latin typeface="Arial"/>
                <a:ea typeface="Arial"/>
                <a:cs typeface="Arial"/>
                <a:sym typeface="Arial"/>
              </a:rPr>
              <a:t>Government systems may differ in APIs/processes.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6505575" y="7424547"/>
            <a:ext cx="4613910" cy="1143762"/>
            <a:chOff x="0" y="0"/>
            <a:chExt cx="6151880" cy="152501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151880" cy="1524889"/>
            </a:xfrm>
            <a:custGeom>
              <a:avLst/>
              <a:gdLst/>
              <a:ahLst/>
              <a:cxnLst/>
              <a:rect l="l" t="t" r="r" b="b"/>
              <a:pathLst>
                <a:path w="6151880" h="1524889">
                  <a:moveTo>
                    <a:pt x="0" y="254127"/>
                  </a:moveTo>
                  <a:cubicBezTo>
                    <a:pt x="0" y="113792"/>
                    <a:pt x="113792" y="0"/>
                    <a:pt x="254127" y="0"/>
                  </a:cubicBezTo>
                  <a:lnTo>
                    <a:pt x="5897753" y="0"/>
                  </a:lnTo>
                  <a:cubicBezTo>
                    <a:pt x="6038088" y="0"/>
                    <a:pt x="6151880" y="113792"/>
                    <a:pt x="6151880" y="254127"/>
                  </a:cubicBezTo>
                  <a:lnTo>
                    <a:pt x="6151880" y="1270762"/>
                  </a:lnTo>
                  <a:cubicBezTo>
                    <a:pt x="6151880" y="1411097"/>
                    <a:pt x="6038088" y="1524889"/>
                    <a:pt x="5897753" y="1524889"/>
                  </a:cubicBezTo>
                  <a:lnTo>
                    <a:pt x="254127" y="1524889"/>
                  </a:lnTo>
                  <a:cubicBezTo>
                    <a:pt x="113792" y="1525016"/>
                    <a:pt x="0" y="1411224"/>
                    <a:pt x="0" y="12708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6515100" y="7434072"/>
            <a:ext cx="96012" cy="1124712"/>
            <a:chOff x="0" y="0"/>
            <a:chExt cx="128016" cy="149961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28016" cy="1499616"/>
            </a:xfrm>
            <a:custGeom>
              <a:avLst/>
              <a:gdLst/>
              <a:ahLst/>
              <a:cxnLst/>
              <a:rect l="l" t="t" r="r" b="b"/>
              <a:pathLst>
                <a:path w="128016" h="1499616">
                  <a:moveTo>
                    <a:pt x="0" y="0"/>
                  </a:moveTo>
                  <a:lnTo>
                    <a:pt x="128016" y="0"/>
                  </a:lnTo>
                  <a:lnTo>
                    <a:pt x="128016" y="1499616"/>
                  </a:lnTo>
                  <a:lnTo>
                    <a:pt x="0" y="1499616"/>
                  </a:lnTo>
                  <a:close/>
                </a:path>
              </a:pathLst>
            </a:custGeom>
            <a:solidFill>
              <a:srgbClr val="EF7D22"/>
            </a:solidFill>
          </p:spPr>
        </p:sp>
      </p:grpSp>
      <p:sp>
        <p:nvSpPr>
          <p:cNvPr id="60" name="TextBox 60"/>
          <p:cNvSpPr txBox="1"/>
          <p:nvPr/>
        </p:nvSpPr>
        <p:spPr>
          <a:xfrm>
            <a:off x="6798564" y="7639431"/>
            <a:ext cx="411022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Recommendation accuracy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798564" y="8096250"/>
            <a:ext cx="411022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7"/>
              </a:lnSpc>
            </a:pPr>
            <a:r>
              <a:rPr lang="en-US" sz="1689">
                <a:solidFill>
                  <a:srgbClr val="5C6E7E"/>
                </a:solidFill>
                <a:latin typeface="Arial"/>
                <a:ea typeface="Arial"/>
                <a:cs typeface="Arial"/>
                <a:sym typeface="Arial"/>
              </a:rPr>
              <a:t>Eligibility suggestions must be transparent.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626596" y="2966466"/>
            <a:ext cx="568756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274" b="1">
                <a:solidFill>
                  <a:srgbClr val="00897B"/>
                </a:solidFill>
                <a:latin typeface="Arial Bold"/>
                <a:ea typeface="Arial Bold"/>
                <a:cs typeface="Arial Bold"/>
                <a:sym typeface="Arial Bold"/>
              </a:rPr>
              <a:t>MITIGATION STRATEGIES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1580495" y="3392043"/>
            <a:ext cx="5848350" cy="1143762"/>
            <a:chOff x="0" y="0"/>
            <a:chExt cx="7797800" cy="1525016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797800" cy="1524889"/>
            </a:xfrm>
            <a:custGeom>
              <a:avLst/>
              <a:gdLst/>
              <a:ahLst/>
              <a:cxnLst/>
              <a:rect l="l" t="t" r="r" b="b"/>
              <a:pathLst>
                <a:path w="7797800" h="1524889">
                  <a:moveTo>
                    <a:pt x="0" y="254127"/>
                  </a:moveTo>
                  <a:cubicBezTo>
                    <a:pt x="0" y="113792"/>
                    <a:pt x="113792" y="0"/>
                    <a:pt x="254127" y="0"/>
                  </a:cubicBezTo>
                  <a:lnTo>
                    <a:pt x="7543673" y="0"/>
                  </a:lnTo>
                  <a:cubicBezTo>
                    <a:pt x="7684008" y="0"/>
                    <a:pt x="7797800" y="113792"/>
                    <a:pt x="7797800" y="254127"/>
                  </a:cubicBezTo>
                  <a:lnTo>
                    <a:pt x="7797800" y="1270762"/>
                  </a:lnTo>
                  <a:cubicBezTo>
                    <a:pt x="7797800" y="1411097"/>
                    <a:pt x="7684008" y="1524889"/>
                    <a:pt x="7543673" y="1524889"/>
                  </a:cubicBezTo>
                  <a:lnTo>
                    <a:pt x="254127" y="1524889"/>
                  </a:lnTo>
                  <a:cubicBezTo>
                    <a:pt x="113792" y="1525016"/>
                    <a:pt x="0" y="1411224"/>
                    <a:pt x="0" y="12708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11590020" y="3401568"/>
            <a:ext cx="96012" cy="1124712"/>
            <a:chOff x="0" y="0"/>
            <a:chExt cx="128016" cy="149961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28016" cy="1499616"/>
            </a:xfrm>
            <a:custGeom>
              <a:avLst/>
              <a:gdLst/>
              <a:ahLst/>
              <a:cxnLst/>
              <a:rect l="l" t="t" r="r" b="b"/>
              <a:pathLst>
                <a:path w="128016" h="1499616">
                  <a:moveTo>
                    <a:pt x="0" y="0"/>
                  </a:moveTo>
                  <a:lnTo>
                    <a:pt x="128016" y="0"/>
                  </a:lnTo>
                  <a:lnTo>
                    <a:pt x="128016" y="1499616"/>
                  </a:lnTo>
                  <a:lnTo>
                    <a:pt x="0" y="1499616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sp>
        <p:nvSpPr>
          <p:cNvPr id="67" name="TextBox 67"/>
          <p:cNvSpPr txBox="1"/>
          <p:nvPr/>
        </p:nvSpPr>
        <p:spPr>
          <a:xfrm>
            <a:off x="11873484" y="3587877"/>
            <a:ext cx="534466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Configurable rule tables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873484" y="4063746"/>
            <a:ext cx="7128041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>
                <a:solidFill>
                  <a:srgbClr val="5C6E7E"/>
                </a:solidFill>
                <a:latin typeface="Arial"/>
                <a:ea typeface="Arial"/>
                <a:cs typeface="Arial"/>
                <a:sym typeface="Arial"/>
              </a:rPr>
              <a:t>Update approval/compliance rules without redesigning the UI.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11580495" y="4736211"/>
            <a:ext cx="5848350" cy="1143762"/>
            <a:chOff x="0" y="0"/>
            <a:chExt cx="7797800" cy="152501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7797800" cy="1524889"/>
            </a:xfrm>
            <a:custGeom>
              <a:avLst/>
              <a:gdLst/>
              <a:ahLst/>
              <a:cxnLst/>
              <a:rect l="l" t="t" r="r" b="b"/>
              <a:pathLst>
                <a:path w="7797800" h="1524889">
                  <a:moveTo>
                    <a:pt x="0" y="254127"/>
                  </a:moveTo>
                  <a:cubicBezTo>
                    <a:pt x="0" y="113792"/>
                    <a:pt x="113792" y="0"/>
                    <a:pt x="254127" y="0"/>
                  </a:cubicBezTo>
                  <a:lnTo>
                    <a:pt x="7543673" y="0"/>
                  </a:lnTo>
                  <a:cubicBezTo>
                    <a:pt x="7684008" y="0"/>
                    <a:pt x="7797800" y="113792"/>
                    <a:pt x="7797800" y="254127"/>
                  </a:cubicBezTo>
                  <a:lnTo>
                    <a:pt x="7797800" y="1270762"/>
                  </a:lnTo>
                  <a:cubicBezTo>
                    <a:pt x="7797800" y="1411097"/>
                    <a:pt x="7684008" y="1524889"/>
                    <a:pt x="7543673" y="1524889"/>
                  </a:cubicBezTo>
                  <a:lnTo>
                    <a:pt x="254127" y="1524889"/>
                  </a:lnTo>
                  <a:cubicBezTo>
                    <a:pt x="113792" y="1525016"/>
                    <a:pt x="0" y="1411224"/>
                    <a:pt x="0" y="12708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11590020" y="4745736"/>
            <a:ext cx="96012" cy="1124712"/>
            <a:chOff x="0" y="0"/>
            <a:chExt cx="128016" cy="1499616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28016" cy="1499616"/>
            </a:xfrm>
            <a:custGeom>
              <a:avLst/>
              <a:gdLst/>
              <a:ahLst/>
              <a:cxnLst/>
              <a:rect l="l" t="t" r="r" b="b"/>
              <a:pathLst>
                <a:path w="128016" h="1499616">
                  <a:moveTo>
                    <a:pt x="0" y="0"/>
                  </a:moveTo>
                  <a:lnTo>
                    <a:pt x="128016" y="0"/>
                  </a:lnTo>
                  <a:lnTo>
                    <a:pt x="128016" y="1499616"/>
                  </a:lnTo>
                  <a:lnTo>
                    <a:pt x="0" y="1499616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sp>
        <p:nvSpPr>
          <p:cNvPr id="73" name="TextBox 73"/>
          <p:cNvSpPr txBox="1"/>
          <p:nvPr/>
        </p:nvSpPr>
        <p:spPr>
          <a:xfrm>
            <a:off x="11873484" y="4951095"/>
            <a:ext cx="534466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Role-based access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873484" y="5417439"/>
            <a:ext cx="5344668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889">
                <a:solidFill>
                  <a:srgbClr val="5C6E7E"/>
                </a:solidFill>
                <a:latin typeface="Arial"/>
                <a:ea typeface="Arial"/>
                <a:cs typeface="Arial"/>
                <a:sym typeface="Arial"/>
              </a:rPr>
              <a:t>JWT + RBAC and controlled document access.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11580495" y="6080379"/>
            <a:ext cx="5848350" cy="1143762"/>
            <a:chOff x="0" y="0"/>
            <a:chExt cx="7797800" cy="1525016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7797800" cy="1524889"/>
            </a:xfrm>
            <a:custGeom>
              <a:avLst/>
              <a:gdLst/>
              <a:ahLst/>
              <a:cxnLst/>
              <a:rect l="l" t="t" r="r" b="b"/>
              <a:pathLst>
                <a:path w="7797800" h="1524889">
                  <a:moveTo>
                    <a:pt x="0" y="254127"/>
                  </a:moveTo>
                  <a:cubicBezTo>
                    <a:pt x="0" y="113792"/>
                    <a:pt x="113792" y="0"/>
                    <a:pt x="254127" y="0"/>
                  </a:cubicBezTo>
                  <a:lnTo>
                    <a:pt x="7543673" y="0"/>
                  </a:lnTo>
                  <a:cubicBezTo>
                    <a:pt x="7684008" y="0"/>
                    <a:pt x="7797800" y="113792"/>
                    <a:pt x="7797800" y="254127"/>
                  </a:cubicBezTo>
                  <a:lnTo>
                    <a:pt x="7797800" y="1270762"/>
                  </a:lnTo>
                  <a:cubicBezTo>
                    <a:pt x="7797800" y="1411097"/>
                    <a:pt x="7684008" y="1524889"/>
                    <a:pt x="7543673" y="1524889"/>
                  </a:cubicBezTo>
                  <a:lnTo>
                    <a:pt x="254127" y="1524889"/>
                  </a:lnTo>
                  <a:cubicBezTo>
                    <a:pt x="113792" y="1525016"/>
                    <a:pt x="0" y="1411224"/>
                    <a:pt x="0" y="12708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11590020" y="6089904"/>
            <a:ext cx="96012" cy="1124712"/>
            <a:chOff x="0" y="0"/>
            <a:chExt cx="128016" cy="1499616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28016" cy="1499616"/>
            </a:xfrm>
            <a:custGeom>
              <a:avLst/>
              <a:gdLst/>
              <a:ahLst/>
              <a:cxnLst/>
              <a:rect l="l" t="t" r="r" b="b"/>
              <a:pathLst>
                <a:path w="128016" h="1499616">
                  <a:moveTo>
                    <a:pt x="0" y="0"/>
                  </a:moveTo>
                  <a:lnTo>
                    <a:pt x="128016" y="0"/>
                  </a:lnTo>
                  <a:lnTo>
                    <a:pt x="128016" y="1499616"/>
                  </a:lnTo>
                  <a:lnTo>
                    <a:pt x="0" y="1499616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sp>
        <p:nvSpPr>
          <p:cNvPr id="79" name="TextBox 79"/>
          <p:cNvSpPr txBox="1"/>
          <p:nvPr/>
        </p:nvSpPr>
        <p:spPr>
          <a:xfrm>
            <a:off x="11873484" y="6295263"/>
            <a:ext cx="5344668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Adapter-ready APIs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873484" y="6752082"/>
            <a:ext cx="5344668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789">
                <a:solidFill>
                  <a:srgbClr val="5C6E7E"/>
                </a:solidFill>
                <a:latin typeface="Arial"/>
                <a:ea typeface="Arial"/>
                <a:cs typeface="Arial"/>
                <a:sym typeface="Arial"/>
              </a:rPr>
              <a:t>Keep external integrations behind service interfaces.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11580495" y="7424547"/>
            <a:ext cx="5848350" cy="1143762"/>
            <a:chOff x="0" y="0"/>
            <a:chExt cx="7797800" cy="152501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7797800" cy="1524889"/>
            </a:xfrm>
            <a:custGeom>
              <a:avLst/>
              <a:gdLst/>
              <a:ahLst/>
              <a:cxnLst/>
              <a:rect l="l" t="t" r="r" b="b"/>
              <a:pathLst>
                <a:path w="7797800" h="1524889">
                  <a:moveTo>
                    <a:pt x="0" y="254127"/>
                  </a:moveTo>
                  <a:cubicBezTo>
                    <a:pt x="0" y="113792"/>
                    <a:pt x="113792" y="0"/>
                    <a:pt x="254127" y="0"/>
                  </a:cubicBezTo>
                  <a:lnTo>
                    <a:pt x="7543673" y="0"/>
                  </a:lnTo>
                  <a:cubicBezTo>
                    <a:pt x="7684008" y="0"/>
                    <a:pt x="7797800" y="113792"/>
                    <a:pt x="7797800" y="254127"/>
                  </a:cubicBezTo>
                  <a:lnTo>
                    <a:pt x="7797800" y="1270762"/>
                  </a:lnTo>
                  <a:cubicBezTo>
                    <a:pt x="7797800" y="1411097"/>
                    <a:pt x="7684008" y="1524889"/>
                    <a:pt x="7543673" y="1524889"/>
                  </a:cubicBezTo>
                  <a:lnTo>
                    <a:pt x="254127" y="1524889"/>
                  </a:lnTo>
                  <a:cubicBezTo>
                    <a:pt x="113792" y="1525016"/>
                    <a:pt x="0" y="1411224"/>
                    <a:pt x="0" y="12708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83" name="Group 83"/>
          <p:cNvGrpSpPr/>
          <p:nvPr/>
        </p:nvGrpSpPr>
        <p:grpSpPr>
          <a:xfrm>
            <a:off x="11590020" y="7434072"/>
            <a:ext cx="96012" cy="1124712"/>
            <a:chOff x="0" y="0"/>
            <a:chExt cx="128016" cy="1499616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28016" cy="1499616"/>
            </a:xfrm>
            <a:custGeom>
              <a:avLst/>
              <a:gdLst/>
              <a:ahLst/>
              <a:cxnLst/>
              <a:rect l="l" t="t" r="r" b="b"/>
              <a:pathLst>
                <a:path w="128016" h="1499616">
                  <a:moveTo>
                    <a:pt x="0" y="0"/>
                  </a:moveTo>
                  <a:lnTo>
                    <a:pt x="128016" y="0"/>
                  </a:lnTo>
                  <a:lnTo>
                    <a:pt x="128016" y="1499616"/>
                  </a:lnTo>
                  <a:lnTo>
                    <a:pt x="0" y="1499616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sp>
        <p:nvSpPr>
          <p:cNvPr id="85" name="TextBox 85"/>
          <p:cNvSpPr txBox="1"/>
          <p:nvPr/>
        </p:nvSpPr>
        <p:spPr>
          <a:xfrm>
            <a:off x="11873484" y="7639431"/>
            <a:ext cx="534466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lang="en-US" sz="1974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Explainable matching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873484" y="8096250"/>
            <a:ext cx="5344668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789">
                <a:solidFill>
                  <a:srgbClr val="5C6E7E"/>
                </a:solidFill>
                <a:latin typeface="Arial"/>
                <a:ea typeface="Arial"/>
                <a:cs typeface="Arial"/>
                <a:sym typeface="Arial"/>
              </a:rPr>
              <a:t>Show eligibility factors and required conditions.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4662" y="378371"/>
            <a:ext cx="1877787" cy="1210999"/>
            <a:chOff x="0" y="0"/>
            <a:chExt cx="2503716" cy="1614665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03678" cy="1614678"/>
            </a:xfrm>
            <a:custGeom>
              <a:avLst/>
              <a:gdLst/>
              <a:ahLst/>
              <a:cxnLst/>
              <a:rect l="l" t="t" r="r" b="b"/>
              <a:pathLst>
                <a:path w="2503678" h="1614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503716" cy="1633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CyberSix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790956" y="2975991"/>
            <a:ext cx="1638604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474" b="1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TARGET USERS &amp; IMPACT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79157" y="3485197"/>
            <a:ext cx="3385185" cy="1122045"/>
            <a:chOff x="0" y="0"/>
            <a:chExt cx="4513580" cy="14960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513580" cy="1496060"/>
            </a:xfrm>
            <a:custGeom>
              <a:avLst/>
              <a:gdLst/>
              <a:ahLst/>
              <a:cxnLst/>
              <a:rect l="l" t="t" r="r" b="b"/>
              <a:pathLst>
                <a:path w="4513580" h="1496060">
                  <a:moveTo>
                    <a:pt x="0" y="249301"/>
                  </a:moveTo>
                  <a:cubicBezTo>
                    <a:pt x="0" y="111633"/>
                    <a:pt x="111633" y="0"/>
                    <a:pt x="249301" y="0"/>
                  </a:cubicBezTo>
                  <a:lnTo>
                    <a:pt x="4264279" y="0"/>
                  </a:lnTo>
                  <a:cubicBezTo>
                    <a:pt x="4401947" y="0"/>
                    <a:pt x="4513580" y="111633"/>
                    <a:pt x="4513580" y="249301"/>
                  </a:cubicBezTo>
                  <a:lnTo>
                    <a:pt x="4513580" y="1246759"/>
                  </a:lnTo>
                  <a:cubicBezTo>
                    <a:pt x="4513580" y="1384427"/>
                    <a:pt x="4401947" y="1496060"/>
                    <a:pt x="4264279" y="1496060"/>
                  </a:cubicBezTo>
                  <a:lnTo>
                    <a:pt x="249301" y="1496060"/>
                  </a:lnTo>
                  <a:cubicBezTo>
                    <a:pt x="111633" y="1496060"/>
                    <a:pt x="0" y="1384427"/>
                    <a:pt x="0" y="1246759"/>
                  </a:cubicBezTo>
                  <a:close/>
                </a:path>
              </a:pathLst>
            </a:custGeom>
            <a:solidFill>
              <a:srgbClr val="F8FAFC"/>
            </a:solidFill>
            <a:ln w="24765" cap="sq">
              <a:solidFill>
                <a:srgbClr val="0070C0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960120" y="3621024"/>
            <a:ext cx="3223260" cy="960120"/>
            <a:chOff x="0" y="0"/>
            <a:chExt cx="4297680" cy="12801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97680" cy="1280160"/>
            </a:xfrm>
            <a:custGeom>
              <a:avLst/>
              <a:gdLst/>
              <a:ahLst/>
              <a:cxnLst/>
              <a:rect l="l" t="t" r="r" b="b"/>
              <a:pathLst>
                <a:path w="4297680" h="1280160">
                  <a:moveTo>
                    <a:pt x="0" y="0"/>
                  </a:moveTo>
                  <a:lnTo>
                    <a:pt x="4297680" y="0"/>
                  </a:lnTo>
                  <a:lnTo>
                    <a:pt x="4297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14" b="-15414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4297680" cy="12896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Industrial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Businesses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021390" y="3485197"/>
            <a:ext cx="3385185" cy="1122045"/>
            <a:chOff x="0" y="0"/>
            <a:chExt cx="4513580" cy="14960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513580" cy="1496060"/>
            </a:xfrm>
            <a:custGeom>
              <a:avLst/>
              <a:gdLst/>
              <a:ahLst/>
              <a:cxnLst/>
              <a:rect l="l" t="t" r="r" b="b"/>
              <a:pathLst>
                <a:path w="4513580" h="1496060">
                  <a:moveTo>
                    <a:pt x="0" y="249301"/>
                  </a:moveTo>
                  <a:cubicBezTo>
                    <a:pt x="0" y="111633"/>
                    <a:pt x="111633" y="0"/>
                    <a:pt x="249301" y="0"/>
                  </a:cubicBezTo>
                  <a:lnTo>
                    <a:pt x="4264279" y="0"/>
                  </a:lnTo>
                  <a:cubicBezTo>
                    <a:pt x="4401947" y="0"/>
                    <a:pt x="4513580" y="111633"/>
                    <a:pt x="4513580" y="249301"/>
                  </a:cubicBezTo>
                  <a:lnTo>
                    <a:pt x="4513580" y="1246759"/>
                  </a:lnTo>
                  <a:cubicBezTo>
                    <a:pt x="4513580" y="1384427"/>
                    <a:pt x="4401947" y="1496060"/>
                    <a:pt x="4264279" y="1496060"/>
                  </a:cubicBezTo>
                  <a:lnTo>
                    <a:pt x="249301" y="1496060"/>
                  </a:lnTo>
                  <a:cubicBezTo>
                    <a:pt x="111633" y="1496060"/>
                    <a:pt x="0" y="1384427"/>
                    <a:pt x="0" y="1246759"/>
                  </a:cubicBezTo>
                  <a:close/>
                </a:path>
              </a:pathLst>
            </a:custGeom>
            <a:solidFill>
              <a:srgbClr val="F8FAFC"/>
            </a:solidFill>
            <a:ln w="24765" cap="sq">
              <a:solidFill>
                <a:srgbClr val="00897B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102352" y="3621024"/>
            <a:ext cx="3223260" cy="960120"/>
            <a:chOff x="0" y="0"/>
            <a:chExt cx="4297680" cy="12801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297680" cy="1280160"/>
            </a:xfrm>
            <a:custGeom>
              <a:avLst/>
              <a:gdLst/>
              <a:ahLst/>
              <a:cxnLst/>
              <a:rect l="l" t="t" r="r" b="b"/>
              <a:pathLst>
                <a:path w="4297680" h="1280160">
                  <a:moveTo>
                    <a:pt x="0" y="0"/>
                  </a:moveTo>
                  <a:lnTo>
                    <a:pt x="4297680" y="0"/>
                  </a:lnTo>
                  <a:lnTo>
                    <a:pt x="4297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14" b="-15414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429768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19"/>
                </a:lnSpc>
              </a:pPr>
              <a:r>
                <a:rPr lang="en-US" sz="2099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Regulatory /</a:t>
              </a:r>
            </a:p>
            <a:p>
              <a:pPr algn="ctr">
                <a:lnSpc>
                  <a:spcPts val="2519"/>
                </a:lnSpc>
              </a:pPr>
              <a:r>
                <a:rPr lang="en-US" sz="2099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Approval Teams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163622" y="3485197"/>
            <a:ext cx="3385185" cy="1122045"/>
            <a:chOff x="0" y="0"/>
            <a:chExt cx="4513580" cy="14960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513580" cy="1496060"/>
            </a:xfrm>
            <a:custGeom>
              <a:avLst/>
              <a:gdLst/>
              <a:ahLst/>
              <a:cxnLst/>
              <a:rect l="l" t="t" r="r" b="b"/>
              <a:pathLst>
                <a:path w="4513580" h="1496060">
                  <a:moveTo>
                    <a:pt x="0" y="249301"/>
                  </a:moveTo>
                  <a:cubicBezTo>
                    <a:pt x="0" y="111633"/>
                    <a:pt x="111633" y="0"/>
                    <a:pt x="249301" y="0"/>
                  </a:cubicBezTo>
                  <a:lnTo>
                    <a:pt x="4264279" y="0"/>
                  </a:lnTo>
                  <a:cubicBezTo>
                    <a:pt x="4401947" y="0"/>
                    <a:pt x="4513580" y="111633"/>
                    <a:pt x="4513580" y="249301"/>
                  </a:cubicBezTo>
                  <a:lnTo>
                    <a:pt x="4513580" y="1246759"/>
                  </a:lnTo>
                  <a:cubicBezTo>
                    <a:pt x="4513580" y="1384427"/>
                    <a:pt x="4401947" y="1496060"/>
                    <a:pt x="4264279" y="1496060"/>
                  </a:cubicBezTo>
                  <a:lnTo>
                    <a:pt x="249301" y="1496060"/>
                  </a:lnTo>
                  <a:cubicBezTo>
                    <a:pt x="111633" y="1496060"/>
                    <a:pt x="0" y="1384427"/>
                    <a:pt x="0" y="1246759"/>
                  </a:cubicBezTo>
                  <a:close/>
                </a:path>
              </a:pathLst>
            </a:custGeom>
            <a:solidFill>
              <a:srgbClr val="F8FAFC"/>
            </a:solidFill>
            <a:ln w="24765" cap="sq">
              <a:solidFill>
                <a:srgbClr val="EF7D22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9244584" y="3621024"/>
            <a:ext cx="3223260" cy="960120"/>
            <a:chOff x="0" y="0"/>
            <a:chExt cx="4297680" cy="12801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297680" cy="1280160"/>
            </a:xfrm>
            <a:custGeom>
              <a:avLst/>
              <a:gdLst/>
              <a:ahLst/>
              <a:cxnLst/>
              <a:rect l="l" t="t" r="r" b="b"/>
              <a:pathLst>
                <a:path w="4297680" h="1280160">
                  <a:moveTo>
                    <a:pt x="0" y="0"/>
                  </a:moveTo>
                  <a:lnTo>
                    <a:pt x="4297680" y="0"/>
                  </a:lnTo>
                  <a:lnTo>
                    <a:pt x="4297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14" b="-15414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429768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19"/>
                </a:lnSpc>
              </a:pPr>
              <a:r>
                <a:rPr lang="en-US" sz="2099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Scheme / Support</a:t>
              </a:r>
            </a:p>
            <a:p>
              <a:pPr algn="ctr">
                <a:lnSpc>
                  <a:spcPts val="2519"/>
                </a:lnSpc>
              </a:pPr>
              <a:r>
                <a:rPr lang="en-US" sz="2099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Ecosystem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305854" y="3485197"/>
            <a:ext cx="3385185" cy="1122045"/>
            <a:chOff x="0" y="0"/>
            <a:chExt cx="4513580" cy="149606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513580" cy="1496060"/>
            </a:xfrm>
            <a:custGeom>
              <a:avLst/>
              <a:gdLst/>
              <a:ahLst/>
              <a:cxnLst/>
              <a:rect l="l" t="t" r="r" b="b"/>
              <a:pathLst>
                <a:path w="4513580" h="1496060">
                  <a:moveTo>
                    <a:pt x="0" y="249301"/>
                  </a:moveTo>
                  <a:cubicBezTo>
                    <a:pt x="0" y="111633"/>
                    <a:pt x="111633" y="0"/>
                    <a:pt x="249301" y="0"/>
                  </a:cubicBezTo>
                  <a:lnTo>
                    <a:pt x="4264279" y="0"/>
                  </a:lnTo>
                  <a:cubicBezTo>
                    <a:pt x="4401947" y="0"/>
                    <a:pt x="4513580" y="111633"/>
                    <a:pt x="4513580" y="249301"/>
                  </a:cubicBezTo>
                  <a:lnTo>
                    <a:pt x="4513580" y="1246759"/>
                  </a:lnTo>
                  <a:cubicBezTo>
                    <a:pt x="4513580" y="1384427"/>
                    <a:pt x="4401947" y="1496060"/>
                    <a:pt x="4264279" y="1496060"/>
                  </a:cubicBezTo>
                  <a:lnTo>
                    <a:pt x="249301" y="1496060"/>
                  </a:lnTo>
                  <a:cubicBezTo>
                    <a:pt x="111633" y="1496060"/>
                    <a:pt x="0" y="1384427"/>
                    <a:pt x="0" y="1246759"/>
                  </a:cubicBezTo>
                  <a:close/>
                </a:path>
              </a:pathLst>
            </a:custGeom>
            <a:solidFill>
              <a:srgbClr val="F8FAFC"/>
            </a:solidFill>
            <a:ln w="24765" cap="sq">
              <a:solidFill>
                <a:srgbClr val="0F233A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3386816" y="3621024"/>
            <a:ext cx="3223260" cy="960120"/>
            <a:chOff x="0" y="0"/>
            <a:chExt cx="4297680" cy="128016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297680" cy="1280160"/>
            </a:xfrm>
            <a:custGeom>
              <a:avLst/>
              <a:gdLst/>
              <a:ahLst/>
              <a:cxnLst/>
              <a:rect l="l" t="t" r="r" b="b"/>
              <a:pathLst>
                <a:path w="4297680" h="1280160">
                  <a:moveTo>
                    <a:pt x="0" y="0"/>
                  </a:moveTo>
                  <a:lnTo>
                    <a:pt x="4297680" y="0"/>
                  </a:lnTo>
                  <a:lnTo>
                    <a:pt x="4297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14" b="-15414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4297680" cy="12896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399" b="1">
                  <a:solidFill>
                    <a:srgbClr val="0F23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Administrators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44855" y="5092827"/>
            <a:ext cx="5299710" cy="1500378"/>
            <a:chOff x="0" y="0"/>
            <a:chExt cx="7066280" cy="200050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066280" cy="2000504"/>
            </a:xfrm>
            <a:custGeom>
              <a:avLst/>
              <a:gdLst/>
              <a:ahLst/>
              <a:cxnLst/>
              <a:rect l="l" t="t" r="r" b="b"/>
              <a:pathLst>
                <a:path w="7066280" h="2000504">
                  <a:moveTo>
                    <a:pt x="0" y="333375"/>
                  </a:moveTo>
                  <a:cubicBezTo>
                    <a:pt x="0" y="149225"/>
                    <a:pt x="149225" y="0"/>
                    <a:pt x="333375" y="0"/>
                  </a:cubicBezTo>
                  <a:lnTo>
                    <a:pt x="6732905" y="0"/>
                  </a:lnTo>
                  <a:cubicBezTo>
                    <a:pt x="6917055" y="0"/>
                    <a:pt x="7066280" y="149225"/>
                    <a:pt x="7066280" y="333375"/>
                  </a:cubicBezTo>
                  <a:lnTo>
                    <a:pt x="7066280" y="1667129"/>
                  </a:lnTo>
                  <a:cubicBezTo>
                    <a:pt x="7066280" y="1851279"/>
                    <a:pt x="6917055" y="2000504"/>
                    <a:pt x="6732905" y="2000504"/>
                  </a:cubicBezTo>
                  <a:lnTo>
                    <a:pt x="333375" y="2000504"/>
                  </a:lnTo>
                  <a:cubicBezTo>
                    <a:pt x="149225" y="2000504"/>
                    <a:pt x="0" y="1851279"/>
                    <a:pt x="0" y="16671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54380" y="5102352"/>
            <a:ext cx="96012" cy="1481328"/>
            <a:chOff x="0" y="0"/>
            <a:chExt cx="128016" cy="197510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28016" cy="1975104"/>
            </a:xfrm>
            <a:custGeom>
              <a:avLst/>
              <a:gdLst/>
              <a:ahLst/>
              <a:cxnLst/>
              <a:rect l="l" t="t" r="r" b="b"/>
              <a:pathLst>
                <a:path w="128016" h="1975104">
                  <a:moveTo>
                    <a:pt x="0" y="0"/>
                  </a:moveTo>
                  <a:lnTo>
                    <a:pt x="128016" y="0"/>
                  </a:lnTo>
                  <a:lnTo>
                    <a:pt x="128016" y="1975104"/>
                  </a:lnTo>
                  <a:lnTo>
                    <a:pt x="0" y="1975104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1037844" y="5307711"/>
            <a:ext cx="479602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2324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Faster discovery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37844" y="5745480"/>
            <a:ext cx="4796028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9"/>
              </a:lnSpc>
            </a:pPr>
            <a:r>
              <a:rPr lang="en-US" sz="20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Identify applicable approvals, NOCs and required documents from one place.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6478143" y="5092827"/>
            <a:ext cx="5299710" cy="1500378"/>
            <a:chOff x="0" y="0"/>
            <a:chExt cx="7066280" cy="200050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066280" cy="2000504"/>
            </a:xfrm>
            <a:custGeom>
              <a:avLst/>
              <a:gdLst/>
              <a:ahLst/>
              <a:cxnLst/>
              <a:rect l="l" t="t" r="r" b="b"/>
              <a:pathLst>
                <a:path w="7066280" h="2000504">
                  <a:moveTo>
                    <a:pt x="0" y="333375"/>
                  </a:moveTo>
                  <a:cubicBezTo>
                    <a:pt x="0" y="149225"/>
                    <a:pt x="149225" y="0"/>
                    <a:pt x="333375" y="0"/>
                  </a:cubicBezTo>
                  <a:lnTo>
                    <a:pt x="6732905" y="0"/>
                  </a:lnTo>
                  <a:cubicBezTo>
                    <a:pt x="6917055" y="0"/>
                    <a:pt x="7066280" y="149225"/>
                    <a:pt x="7066280" y="333375"/>
                  </a:cubicBezTo>
                  <a:lnTo>
                    <a:pt x="7066280" y="1667129"/>
                  </a:lnTo>
                  <a:cubicBezTo>
                    <a:pt x="7066280" y="1851279"/>
                    <a:pt x="6917055" y="2000504"/>
                    <a:pt x="6732905" y="2000504"/>
                  </a:cubicBezTo>
                  <a:lnTo>
                    <a:pt x="333375" y="2000504"/>
                  </a:lnTo>
                  <a:cubicBezTo>
                    <a:pt x="149225" y="2000504"/>
                    <a:pt x="0" y="1851279"/>
                    <a:pt x="0" y="16671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6487668" y="5102352"/>
            <a:ext cx="96012" cy="1481328"/>
            <a:chOff x="0" y="0"/>
            <a:chExt cx="128016" cy="197510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28016" cy="1975104"/>
            </a:xfrm>
            <a:custGeom>
              <a:avLst/>
              <a:gdLst/>
              <a:ahLst/>
              <a:cxnLst/>
              <a:rect l="l" t="t" r="r" b="b"/>
              <a:pathLst>
                <a:path w="128016" h="1975104">
                  <a:moveTo>
                    <a:pt x="0" y="0"/>
                  </a:moveTo>
                  <a:lnTo>
                    <a:pt x="128016" y="0"/>
                  </a:lnTo>
                  <a:lnTo>
                    <a:pt x="128016" y="1975104"/>
                  </a:lnTo>
                  <a:lnTo>
                    <a:pt x="0" y="1975104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sp>
        <p:nvSpPr>
          <p:cNvPr id="49" name="TextBox 49"/>
          <p:cNvSpPr txBox="1"/>
          <p:nvPr/>
        </p:nvSpPr>
        <p:spPr>
          <a:xfrm>
            <a:off x="6771132" y="5307711"/>
            <a:ext cx="479602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224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Better visibility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771132" y="5735955"/>
            <a:ext cx="479602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Track application stages, pending actions and document requirements.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2211431" y="5092827"/>
            <a:ext cx="5299710" cy="1500378"/>
            <a:chOff x="0" y="0"/>
            <a:chExt cx="7066280" cy="200050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066280" cy="2000504"/>
            </a:xfrm>
            <a:custGeom>
              <a:avLst/>
              <a:gdLst/>
              <a:ahLst/>
              <a:cxnLst/>
              <a:rect l="l" t="t" r="r" b="b"/>
              <a:pathLst>
                <a:path w="7066280" h="2000504">
                  <a:moveTo>
                    <a:pt x="0" y="333375"/>
                  </a:moveTo>
                  <a:cubicBezTo>
                    <a:pt x="0" y="149225"/>
                    <a:pt x="149225" y="0"/>
                    <a:pt x="333375" y="0"/>
                  </a:cubicBezTo>
                  <a:lnTo>
                    <a:pt x="6732905" y="0"/>
                  </a:lnTo>
                  <a:cubicBezTo>
                    <a:pt x="6917055" y="0"/>
                    <a:pt x="7066280" y="149225"/>
                    <a:pt x="7066280" y="333375"/>
                  </a:cubicBezTo>
                  <a:lnTo>
                    <a:pt x="7066280" y="1667129"/>
                  </a:lnTo>
                  <a:cubicBezTo>
                    <a:pt x="7066280" y="1851279"/>
                    <a:pt x="6917055" y="2000504"/>
                    <a:pt x="6732905" y="2000504"/>
                  </a:cubicBezTo>
                  <a:lnTo>
                    <a:pt x="333375" y="2000504"/>
                  </a:lnTo>
                  <a:cubicBezTo>
                    <a:pt x="149225" y="2000504"/>
                    <a:pt x="0" y="1851279"/>
                    <a:pt x="0" y="16671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12220956" y="5102352"/>
            <a:ext cx="96012" cy="1481328"/>
            <a:chOff x="0" y="0"/>
            <a:chExt cx="128016" cy="197510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28016" cy="1975104"/>
            </a:xfrm>
            <a:custGeom>
              <a:avLst/>
              <a:gdLst/>
              <a:ahLst/>
              <a:cxnLst/>
              <a:rect l="l" t="t" r="r" b="b"/>
              <a:pathLst>
                <a:path w="128016" h="1975104">
                  <a:moveTo>
                    <a:pt x="0" y="0"/>
                  </a:moveTo>
                  <a:lnTo>
                    <a:pt x="128016" y="0"/>
                  </a:lnTo>
                  <a:lnTo>
                    <a:pt x="128016" y="1975104"/>
                  </a:lnTo>
                  <a:lnTo>
                    <a:pt x="0" y="1975104"/>
                  </a:lnTo>
                  <a:close/>
                </a:path>
              </a:pathLst>
            </a:custGeom>
            <a:solidFill>
              <a:srgbClr val="EF7D22"/>
            </a:solidFill>
          </p:spPr>
        </p:sp>
      </p:grpSp>
      <p:sp>
        <p:nvSpPr>
          <p:cNvPr id="55" name="TextBox 55"/>
          <p:cNvSpPr txBox="1"/>
          <p:nvPr/>
        </p:nvSpPr>
        <p:spPr>
          <a:xfrm>
            <a:off x="12504420" y="5307711"/>
            <a:ext cx="4796028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2024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Compliance readiness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504420" y="5735955"/>
            <a:ext cx="479602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Monitor recurring tasks, deadlines, pending work and completion status.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744855" y="6807327"/>
            <a:ext cx="5299710" cy="1500378"/>
            <a:chOff x="0" y="0"/>
            <a:chExt cx="7066280" cy="200050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066280" cy="2000504"/>
            </a:xfrm>
            <a:custGeom>
              <a:avLst/>
              <a:gdLst/>
              <a:ahLst/>
              <a:cxnLst/>
              <a:rect l="l" t="t" r="r" b="b"/>
              <a:pathLst>
                <a:path w="7066280" h="2000504">
                  <a:moveTo>
                    <a:pt x="0" y="333375"/>
                  </a:moveTo>
                  <a:cubicBezTo>
                    <a:pt x="0" y="149225"/>
                    <a:pt x="149225" y="0"/>
                    <a:pt x="333375" y="0"/>
                  </a:cubicBezTo>
                  <a:lnTo>
                    <a:pt x="6732905" y="0"/>
                  </a:lnTo>
                  <a:cubicBezTo>
                    <a:pt x="6917055" y="0"/>
                    <a:pt x="7066280" y="149225"/>
                    <a:pt x="7066280" y="333375"/>
                  </a:cubicBezTo>
                  <a:lnTo>
                    <a:pt x="7066280" y="1667129"/>
                  </a:lnTo>
                  <a:cubicBezTo>
                    <a:pt x="7066280" y="1851279"/>
                    <a:pt x="6917055" y="2000504"/>
                    <a:pt x="6732905" y="2000504"/>
                  </a:cubicBezTo>
                  <a:lnTo>
                    <a:pt x="333375" y="2000504"/>
                  </a:lnTo>
                  <a:cubicBezTo>
                    <a:pt x="149225" y="2000504"/>
                    <a:pt x="0" y="1851279"/>
                    <a:pt x="0" y="16671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754380" y="6816852"/>
            <a:ext cx="96012" cy="1481328"/>
            <a:chOff x="0" y="0"/>
            <a:chExt cx="128016" cy="197510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28016" cy="1975104"/>
            </a:xfrm>
            <a:custGeom>
              <a:avLst/>
              <a:gdLst/>
              <a:ahLst/>
              <a:cxnLst/>
              <a:rect l="l" t="t" r="r" b="b"/>
              <a:pathLst>
                <a:path w="128016" h="1975104">
                  <a:moveTo>
                    <a:pt x="0" y="0"/>
                  </a:moveTo>
                  <a:lnTo>
                    <a:pt x="128016" y="0"/>
                  </a:lnTo>
                  <a:lnTo>
                    <a:pt x="128016" y="1975104"/>
                  </a:lnTo>
                  <a:lnTo>
                    <a:pt x="0" y="1975104"/>
                  </a:lnTo>
                  <a:close/>
                </a:path>
              </a:pathLst>
            </a:custGeom>
            <a:solidFill>
              <a:srgbClr val="0F233A"/>
            </a:solidFill>
          </p:spPr>
        </p:sp>
      </p:grpSp>
      <p:sp>
        <p:nvSpPr>
          <p:cNvPr id="61" name="TextBox 61"/>
          <p:cNvSpPr txBox="1"/>
          <p:nvPr/>
        </p:nvSpPr>
        <p:spPr>
          <a:xfrm>
            <a:off x="1037844" y="7022211"/>
            <a:ext cx="4796028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Support access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37844" y="7459980"/>
            <a:ext cx="4796028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9"/>
              </a:lnSpc>
            </a:pPr>
            <a:r>
              <a:rPr lang="en-US" sz="20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Surface schemes, subsidies and incentives with eligibility factors.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6478143" y="6807327"/>
            <a:ext cx="5299710" cy="1500378"/>
            <a:chOff x="0" y="0"/>
            <a:chExt cx="7066280" cy="200050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066280" cy="2000504"/>
            </a:xfrm>
            <a:custGeom>
              <a:avLst/>
              <a:gdLst/>
              <a:ahLst/>
              <a:cxnLst/>
              <a:rect l="l" t="t" r="r" b="b"/>
              <a:pathLst>
                <a:path w="7066280" h="2000504">
                  <a:moveTo>
                    <a:pt x="0" y="333375"/>
                  </a:moveTo>
                  <a:cubicBezTo>
                    <a:pt x="0" y="149225"/>
                    <a:pt x="149225" y="0"/>
                    <a:pt x="333375" y="0"/>
                  </a:cubicBezTo>
                  <a:lnTo>
                    <a:pt x="6732905" y="0"/>
                  </a:lnTo>
                  <a:cubicBezTo>
                    <a:pt x="6917055" y="0"/>
                    <a:pt x="7066280" y="149225"/>
                    <a:pt x="7066280" y="333375"/>
                  </a:cubicBezTo>
                  <a:lnTo>
                    <a:pt x="7066280" y="1667129"/>
                  </a:lnTo>
                  <a:cubicBezTo>
                    <a:pt x="7066280" y="1851279"/>
                    <a:pt x="6917055" y="2000504"/>
                    <a:pt x="6732905" y="2000504"/>
                  </a:cubicBezTo>
                  <a:lnTo>
                    <a:pt x="333375" y="2000504"/>
                  </a:lnTo>
                  <a:cubicBezTo>
                    <a:pt x="149225" y="2000504"/>
                    <a:pt x="0" y="1851279"/>
                    <a:pt x="0" y="16671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6487668" y="6816852"/>
            <a:ext cx="96012" cy="1481328"/>
            <a:chOff x="0" y="0"/>
            <a:chExt cx="128016" cy="197510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28016" cy="1975104"/>
            </a:xfrm>
            <a:custGeom>
              <a:avLst/>
              <a:gdLst/>
              <a:ahLst/>
              <a:cxnLst/>
              <a:rect l="l" t="t" r="r" b="b"/>
              <a:pathLst>
                <a:path w="128016" h="1975104">
                  <a:moveTo>
                    <a:pt x="0" y="0"/>
                  </a:moveTo>
                  <a:lnTo>
                    <a:pt x="128016" y="0"/>
                  </a:lnTo>
                  <a:lnTo>
                    <a:pt x="128016" y="1975104"/>
                  </a:lnTo>
                  <a:lnTo>
                    <a:pt x="0" y="1975104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67" name="TextBox 67"/>
          <p:cNvSpPr txBox="1"/>
          <p:nvPr/>
        </p:nvSpPr>
        <p:spPr>
          <a:xfrm>
            <a:off x="6771132" y="7022211"/>
            <a:ext cx="479602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224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Less duplication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771132" y="7450455"/>
            <a:ext cx="4796028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Reuse profile and document information across related workflows.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12211431" y="6807327"/>
            <a:ext cx="5299710" cy="1500378"/>
            <a:chOff x="0" y="0"/>
            <a:chExt cx="7066280" cy="200050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7066280" cy="2000504"/>
            </a:xfrm>
            <a:custGeom>
              <a:avLst/>
              <a:gdLst/>
              <a:ahLst/>
              <a:cxnLst/>
              <a:rect l="l" t="t" r="r" b="b"/>
              <a:pathLst>
                <a:path w="7066280" h="2000504">
                  <a:moveTo>
                    <a:pt x="0" y="333375"/>
                  </a:moveTo>
                  <a:cubicBezTo>
                    <a:pt x="0" y="149225"/>
                    <a:pt x="149225" y="0"/>
                    <a:pt x="333375" y="0"/>
                  </a:cubicBezTo>
                  <a:lnTo>
                    <a:pt x="6732905" y="0"/>
                  </a:lnTo>
                  <a:cubicBezTo>
                    <a:pt x="6917055" y="0"/>
                    <a:pt x="7066280" y="149225"/>
                    <a:pt x="7066280" y="333375"/>
                  </a:cubicBezTo>
                  <a:lnTo>
                    <a:pt x="7066280" y="1667129"/>
                  </a:lnTo>
                  <a:cubicBezTo>
                    <a:pt x="7066280" y="1851279"/>
                    <a:pt x="6917055" y="2000504"/>
                    <a:pt x="6732905" y="2000504"/>
                  </a:cubicBezTo>
                  <a:lnTo>
                    <a:pt x="333375" y="2000504"/>
                  </a:lnTo>
                  <a:cubicBezTo>
                    <a:pt x="149225" y="2000504"/>
                    <a:pt x="0" y="1851279"/>
                    <a:pt x="0" y="16671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12220956" y="6816852"/>
            <a:ext cx="96012" cy="1481328"/>
            <a:chOff x="0" y="0"/>
            <a:chExt cx="128016" cy="197510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28016" cy="1975104"/>
            </a:xfrm>
            <a:custGeom>
              <a:avLst/>
              <a:gdLst/>
              <a:ahLst/>
              <a:cxnLst/>
              <a:rect l="l" t="t" r="r" b="b"/>
              <a:pathLst>
                <a:path w="128016" h="1975104">
                  <a:moveTo>
                    <a:pt x="0" y="0"/>
                  </a:moveTo>
                  <a:lnTo>
                    <a:pt x="128016" y="0"/>
                  </a:lnTo>
                  <a:lnTo>
                    <a:pt x="128016" y="1975104"/>
                  </a:lnTo>
                  <a:lnTo>
                    <a:pt x="0" y="1975104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sp>
        <p:nvSpPr>
          <p:cNvPr id="73" name="TextBox 73"/>
          <p:cNvSpPr txBox="1"/>
          <p:nvPr/>
        </p:nvSpPr>
        <p:spPr>
          <a:xfrm>
            <a:off x="12504420" y="7022211"/>
            <a:ext cx="4796028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Actionable alerts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2504420" y="7450455"/>
            <a:ext cx="479602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Receive approval, deadline and scheme alerts through notification channels.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59536" y="8612124"/>
            <a:ext cx="1638604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9"/>
              </a:lnSpc>
            </a:pPr>
            <a:r>
              <a:rPr lang="en-US" sz="20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Outcome: fewer manual follow-ups • clearer deadlines • reusable documents • better visibility into approvals, compliance and government support.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4662" y="378371"/>
            <a:ext cx="1877787" cy="1210999"/>
            <a:chOff x="0" y="0"/>
            <a:chExt cx="2503716" cy="1614665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03678" cy="1614678"/>
            </a:xfrm>
            <a:custGeom>
              <a:avLst/>
              <a:gdLst/>
              <a:ahLst/>
              <a:cxnLst/>
              <a:rect l="l" t="t" r="r" b="b"/>
              <a:pathLst>
                <a:path w="2503678" h="1614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503716" cy="1633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CyberSix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790956" y="2966466"/>
            <a:ext cx="1638604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274" b="1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RESEARCH &amp; REFERENCES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44855" y="3422431"/>
            <a:ext cx="8042910" cy="1596390"/>
            <a:chOff x="0" y="0"/>
            <a:chExt cx="10723880" cy="2128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23880" cy="2128520"/>
            </a:xfrm>
            <a:custGeom>
              <a:avLst/>
              <a:gdLst/>
              <a:ahLst/>
              <a:cxnLst/>
              <a:rect l="l" t="t" r="r" b="b"/>
              <a:pathLst>
                <a:path w="10723880" h="2128520">
                  <a:moveTo>
                    <a:pt x="0" y="354711"/>
                  </a:moveTo>
                  <a:cubicBezTo>
                    <a:pt x="0" y="158877"/>
                    <a:pt x="158877" y="0"/>
                    <a:pt x="354711" y="0"/>
                  </a:cubicBezTo>
                  <a:lnTo>
                    <a:pt x="10369169" y="0"/>
                  </a:lnTo>
                  <a:cubicBezTo>
                    <a:pt x="10565130" y="0"/>
                    <a:pt x="10723880" y="158877"/>
                    <a:pt x="10723880" y="354711"/>
                  </a:cubicBezTo>
                  <a:lnTo>
                    <a:pt x="10723880" y="1773809"/>
                  </a:lnTo>
                  <a:cubicBezTo>
                    <a:pt x="10723880" y="1969770"/>
                    <a:pt x="10565002" y="2128520"/>
                    <a:pt x="10369169" y="2128520"/>
                  </a:cubicBezTo>
                  <a:lnTo>
                    <a:pt x="354711" y="2128520"/>
                  </a:lnTo>
                  <a:cubicBezTo>
                    <a:pt x="158877" y="2128520"/>
                    <a:pt x="0" y="1969643"/>
                    <a:pt x="0" y="17738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54380" y="3401568"/>
            <a:ext cx="96012" cy="1577340"/>
            <a:chOff x="0" y="0"/>
            <a:chExt cx="128016" cy="21031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8016" cy="2103120"/>
            </a:xfrm>
            <a:custGeom>
              <a:avLst/>
              <a:gdLst/>
              <a:ahLst/>
              <a:cxnLst/>
              <a:rect l="l" t="t" r="r" b="b"/>
              <a:pathLst>
                <a:path w="128016" h="2103120">
                  <a:moveTo>
                    <a:pt x="0" y="0"/>
                  </a:moveTo>
                  <a:lnTo>
                    <a:pt x="128016" y="0"/>
                  </a:lnTo>
                  <a:lnTo>
                    <a:pt x="128016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037844" y="3597402"/>
            <a:ext cx="7539228" cy="329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dirty="0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1. Smart India Hackathon 2026 — Idea Submission Template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44855" y="5229987"/>
            <a:ext cx="8042910" cy="1596390"/>
            <a:chOff x="0" y="0"/>
            <a:chExt cx="10723880" cy="21285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723880" cy="2128520"/>
            </a:xfrm>
            <a:custGeom>
              <a:avLst/>
              <a:gdLst/>
              <a:ahLst/>
              <a:cxnLst/>
              <a:rect l="l" t="t" r="r" b="b"/>
              <a:pathLst>
                <a:path w="10723880" h="2128520">
                  <a:moveTo>
                    <a:pt x="0" y="354711"/>
                  </a:moveTo>
                  <a:cubicBezTo>
                    <a:pt x="0" y="158877"/>
                    <a:pt x="158877" y="0"/>
                    <a:pt x="354711" y="0"/>
                  </a:cubicBezTo>
                  <a:lnTo>
                    <a:pt x="10369169" y="0"/>
                  </a:lnTo>
                  <a:cubicBezTo>
                    <a:pt x="10565130" y="0"/>
                    <a:pt x="10723880" y="158877"/>
                    <a:pt x="10723880" y="354711"/>
                  </a:cubicBezTo>
                  <a:lnTo>
                    <a:pt x="10723880" y="1773809"/>
                  </a:lnTo>
                  <a:cubicBezTo>
                    <a:pt x="10723880" y="1969770"/>
                    <a:pt x="10565002" y="2128520"/>
                    <a:pt x="10369169" y="2128520"/>
                  </a:cubicBezTo>
                  <a:lnTo>
                    <a:pt x="354711" y="2128520"/>
                  </a:lnTo>
                  <a:cubicBezTo>
                    <a:pt x="158877" y="2128520"/>
                    <a:pt x="0" y="1969643"/>
                    <a:pt x="0" y="17738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754380" y="5239512"/>
            <a:ext cx="96012" cy="1577340"/>
            <a:chOff x="0" y="0"/>
            <a:chExt cx="128016" cy="21031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8016" cy="2103120"/>
            </a:xfrm>
            <a:custGeom>
              <a:avLst/>
              <a:gdLst/>
              <a:ahLst/>
              <a:cxnLst/>
              <a:rect l="l" t="t" r="r" b="b"/>
              <a:pathLst>
                <a:path w="128016" h="2103120">
                  <a:moveTo>
                    <a:pt x="0" y="0"/>
                  </a:moveTo>
                  <a:lnTo>
                    <a:pt x="128016" y="0"/>
                  </a:lnTo>
                  <a:lnTo>
                    <a:pt x="128016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037844" y="5435346"/>
            <a:ext cx="7539228" cy="329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dirty="0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2. Problem Statement 26130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7844" y="5911215"/>
            <a:ext cx="7539228" cy="773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 dirty="0">
                <a:solidFill>
                  <a:srgbClr val="5C6E7E"/>
                </a:solidFill>
                <a:latin typeface="Arial"/>
                <a:ea typeface="Arial"/>
                <a:cs typeface="Arial"/>
                <a:sym typeface="Arial"/>
              </a:rPr>
              <a:t>“Streamlining Industrial Approvals, Compliance Processes, and Access to Government Support” — Smart Automation.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370495" y="7113838"/>
            <a:ext cx="8042910" cy="1596390"/>
            <a:chOff x="0" y="0"/>
            <a:chExt cx="10723880" cy="21285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723880" cy="2128520"/>
            </a:xfrm>
            <a:custGeom>
              <a:avLst/>
              <a:gdLst/>
              <a:ahLst/>
              <a:cxnLst/>
              <a:rect l="l" t="t" r="r" b="b"/>
              <a:pathLst>
                <a:path w="10723880" h="2128520">
                  <a:moveTo>
                    <a:pt x="0" y="354711"/>
                  </a:moveTo>
                  <a:cubicBezTo>
                    <a:pt x="0" y="158877"/>
                    <a:pt x="158877" y="0"/>
                    <a:pt x="354711" y="0"/>
                  </a:cubicBezTo>
                  <a:lnTo>
                    <a:pt x="10369169" y="0"/>
                  </a:lnTo>
                  <a:cubicBezTo>
                    <a:pt x="10565130" y="0"/>
                    <a:pt x="10723880" y="158877"/>
                    <a:pt x="10723880" y="354711"/>
                  </a:cubicBezTo>
                  <a:lnTo>
                    <a:pt x="10723880" y="1773809"/>
                  </a:lnTo>
                  <a:cubicBezTo>
                    <a:pt x="10723880" y="1969770"/>
                    <a:pt x="10565002" y="2128520"/>
                    <a:pt x="10369169" y="2128520"/>
                  </a:cubicBezTo>
                  <a:lnTo>
                    <a:pt x="354711" y="2128520"/>
                  </a:lnTo>
                  <a:cubicBezTo>
                    <a:pt x="158877" y="2128520"/>
                    <a:pt x="0" y="1969643"/>
                    <a:pt x="0" y="17738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754380" y="7077456"/>
            <a:ext cx="96012" cy="1577340"/>
            <a:chOff x="0" y="0"/>
            <a:chExt cx="128016" cy="21031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8016" cy="2103120"/>
            </a:xfrm>
            <a:custGeom>
              <a:avLst/>
              <a:gdLst/>
              <a:ahLst/>
              <a:cxnLst/>
              <a:rect l="l" t="t" r="r" b="b"/>
              <a:pathLst>
                <a:path w="128016" h="2103120">
                  <a:moveTo>
                    <a:pt x="0" y="0"/>
                  </a:moveTo>
                  <a:lnTo>
                    <a:pt x="128016" y="0"/>
                  </a:lnTo>
                  <a:lnTo>
                    <a:pt x="128016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EF7D22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1037844" y="7273290"/>
            <a:ext cx="7539228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1800" b="1" dirty="0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3. </a:t>
            </a:r>
            <a:r>
              <a:rPr lang="en-IN" dirty="0">
                <a:latin typeface="Arial Bold" panose="020B0704020202020204" pitchFamily="34" charset="0"/>
                <a:cs typeface="Arial Bold" panose="020B0704020202020204" pitchFamily="34" charset="0"/>
              </a:rPr>
              <a:t>National Single Window System (NSWS</a:t>
            </a:r>
            <a:r>
              <a:rPr lang="en-IN" dirty="0">
                <a:latin typeface="Arial Black" panose="020B0A04020102020204" pitchFamily="34" charset="0"/>
              </a:rPr>
              <a:t>)</a:t>
            </a:r>
            <a:endParaRPr lang="en-US" sz="1800" b="1" dirty="0">
              <a:solidFill>
                <a:srgbClr val="0F233A"/>
              </a:solidFill>
              <a:latin typeface="Arial Black" panose="020B0A04020102020204" pitchFamily="34" charset="0"/>
              <a:ea typeface="Arial Bold"/>
              <a:cs typeface="Arial Bold"/>
              <a:sym typeface="Arial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37844" y="7701245"/>
            <a:ext cx="7539228" cy="678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470" dirty="0">
                <a:latin typeface="Arial" panose="020B0604020202020204" pitchFamily="34" charset="0"/>
                <a:cs typeface="Arial" panose="020B0604020202020204" pitchFamily="34" charset="0"/>
              </a:rPr>
              <a:t>Government platform for industrial approvals and clearances across states — referenced</a:t>
            </a:r>
          </a:p>
          <a:p>
            <a:r>
              <a:rPr lang="en-IN" sz="1470" dirty="0">
                <a:latin typeface="Arial" panose="020B0604020202020204" pitchFamily="34" charset="0"/>
                <a:cs typeface="Arial" panose="020B0604020202020204" pitchFamily="34" charset="0"/>
              </a:rPr>
              <a:t>to align </a:t>
            </a:r>
            <a:r>
              <a:rPr lang="en-IN" sz="1470" dirty="0" err="1">
                <a:latin typeface="Arial" panose="020B0604020202020204" pitchFamily="34" charset="0"/>
                <a:cs typeface="Arial" panose="020B0604020202020204" pitchFamily="34" charset="0"/>
              </a:rPr>
              <a:t>InduServe's</a:t>
            </a:r>
            <a:r>
              <a:rPr lang="en-IN" sz="1470" dirty="0">
                <a:latin typeface="Arial" panose="020B0604020202020204" pitchFamily="34" charset="0"/>
                <a:cs typeface="Arial" panose="020B0604020202020204" pitchFamily="34" charset="0"/>
              </a:rPr>
              <a:t> approval workflow and compliance categories with existing </a:t>
            </a:r>
          </a:p>
          <a:p>
            <a:r>
              <a:rPr lang="en-IN" sz="1470" dirty="0">
                <a:latin typeface="Arial" panose="020B0604020202020204" pitchFamily="34" charset="0"/>
                <a:cs typeface="Arial" panose="020B0604020202020204" pitchFamily="34" charset="0"/>
              </a:rPr>
              <a:t>e-governance standards.</a:t>
            </a:r>
            <a:endParaRPr lang="en-US" sz="1470" dirty="0">
              <a:solidFill>
                <a:srgbClr val="5C6E7E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9193530" y="3393607"/>
            <a:ext cx="8180070" cy="1596390"/>
            <a:chOff x="0" y="0"/>
            <a:chExt cx="10906760" cy="21285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906760" cy="2128520"/>
            </a:xfrm>
            <a:custGeom>
              <a:avLst/>
              <a:gdLst/>
              <a:ahLst/>
              <a:cxnLst/>
              <a:rect l="l" t="t" r="r" b="b"/>
              <a:pathLst>
                <a:path w="10906760" h="2128520">
                  <a:moveTo>
                    <a:pt x="0" y="354711"/>
                  </a:moveTo>
                  <a:cubicBezTo>
                    <a:pt x="0" y="158877"/>
                    <a:pt x="158877" y="0"/>
                    <a:pt x="354711" y="0"/>
                  </a:cubicBezTo>
                  <a:lnTo>
                    <a:pt x="10552049" y="0"/>
                  </a:lnTo>
                  <a:cubicBezTo>
                    <a:pt x="10748010" y="0"/>
                    <a:pt x="10906760" y="158877"/>
                    <a:pt x="10906760" y="354711"/>
                  </a:cubicBezTo>
                  <a:lnTo>
                    <a:pt x="10906760" y="1773809"/>
                  </a:lnTo>
                  <a:cubicBezTo>
                    <a:pt x="10906760" y="1969770"/>
                    <a:pt x="10747883" y="2128520"/>
                    <a:pt x="10552049" y="2128520"/>
                  </a:cubicBezTo>
                  <a:lnTo>
                    <a:pt x="354711" y="2128520"/>
                  </a:lnTo>
                  <a:cubicBezTo>
                    <a:pt x="158877" y="2128520"/>
                    <a:pt x="0" y="1969643"/>
                    <a:pt x="0" y="17738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9217152" y="3401568"/>
            <a:ext cx="96012" cy="1577340"/>
            <a:chOff x="0" y="0"/>
            <a:chExt cx="128016" cy="21031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8016" cy="2103120"/>
            </a:xfrm>
            <a:custGeom>
              <a:avLst/>
              <a:gdLst/>
              <a:ahLst/>
              <a:cxnLst/>
              <a:rect l="l" t="t" r="r" b="b"/>
              <a:pathLst>
                <a:path w="128016" h="2103120">
                  <a:moveTo>
                    <a:pt x="0" y="0"/>
                  </a:moveTo>
                  <a:lnTo>
                    <a:pt x="128016" y="0"/>
                  </a:lnTo>
                  <a:lnTo>
                    <a:pt x="128016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0F233A"/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9500616" y="3597402"/>
            <a:ext cx="7676388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dirty="0">
                <a:latin typeface="Arial Bold" panose="020B0704020202020204" pitchFamily="34" charset="0"/>
                <a:cs typeface="Arial Bold" panose="020B0704020202020204" pitchFamily="34" charset="0"/>
              </a:rPr>
              <a:t>4. RBAC &amp; Workflow Automation Standards</a:t>
            </a:r>
            <a:endParaRPr lang="en-US" sz="1800" b="1" dirty="0">
              <a:solidFill>
                <a:srgbClr val="0F233A"/>
              </a:solidFill>
              <a:latin typeface="Arial Bold" panose="020B0704020202020204" pitchFamily="34" charset="0"/>
              <a:ea typeface="Arial Bold"/>
              <a:cs typeface="Arial Bold" panose="020B0704020202020204" pitchFamily="34" charset="0"/>
              <a:sym typeface="Arial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9500616" y="4073271"/>
            <a:ext cx="7676388" cy="678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470" dirty="0">
                <a:latin typeface="Arial" panose="020B0604020202020204" pitchFamily="34" charset="0"/>
                <a:cs typeface="Arial" panose="020B0604020202020204" pitchFamily="34" charset="0"/>
              </a:rPr>
              <a:t>Role-based access control and rules-engine patterns used in enterprise compliance systems — referenced to justify </a:t>
            </a:r>
            <a:r>
              <a:rPr lang="en-IN" sz="1470" dirty="0" err="1">
                <a:latin typeface="Arial" panose="020B0604020202020204" pitchFamily="34" charset="0"/>
                <a:cs typeface="Arial" panose="020B0604020202020204" pitchFamily="34" charset="0"/>
              </a:rPr>
              <a:t>InduServe's</a:t>
            </a:r>
            <a:r>
              <a:rPr lang="en-IN" sz="1470" dirty="0">
                <a:latin typeface="Arial" panose="020B0604020202020204" pitchFamily="34" charset="0"/>
                <a:cs typeface="Arial" panose="020B0604020202020204" pitchFamily="34" charset="0"/>
              </a:rPr>
              <a:t> JWT/RBAC design and automated scheme-matching logic.</a:t>
            </a:r>
            <a:endParaRPr lang="en-US" sz="1470" dirty="0">
              <a:solidFill>
                <a:srgbClr val="5C6E7E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9207627" y="5229987"/>
            <a:ext cx="8180070" cy="1596390"/>
            <a:chOff x="0" y="0"/>
            <a:chExt cx="10906760" cy="21285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906760" cy="2128520"/>
            </a:xfrm>
            <a:custGeom>
              <a:avLst/>
              <a:gdLst/>
              <a:ahLst/>
              <a:cxnLst/>
              <a:rect l="l" t="t" r="r" b="b"/>
              <a:pathLst>
                <a:path w="10906760" h="2128520">
                  <a:moveTo>
                    <a:pt x="0" y="354711"/>
                  </a:moveTo>
                  <a:cubicBezTo>
                    <a:pt x="0" y="158877"/>
                    <a:pt x="158877" y="0"/>
                    <a:pt x="354711" y="0"/>
                  </a:cubicBezTo>
                  <a:lnTo>
                    <a:pt x="10552049" y="0"/>
                  </a:lnTo>
                  <a:cubicBezTo>
                    <a:pt x="10748010" y="0"/>
                    <a:pt x="10906760" y="158877"/>
                    <a:pt x="10906760" y="354711"/>
                  </a:cubicBezTo>
                  <a:lnTo>
                    <a:pt x="10906760" y="1773809"/>
                  </a:lnTo>
                  <a:cubicBezTo>
                    <a:pt x="10906760" y="1969770"/>
                    <a:pt x="10747883" y="2128520"/>
                    <a:pt x="10552049" y="2128520"/>
                  </a:cubicBezTo>
                  <a:lnTo>
                    <a:pt x="354711" y="2128520"/>
                  </a:lnTo>
                  <a:cubicBezTo>
                    <a:pt x="158877" y="2128520"/>
                    <a:pt x="0" y="1969643"/>
                    <a:pt x="0" y="17738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CD8E2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9217152" y="5239512"/>
            <a:ext cx="96012" cy="1577340"/>
            <a:chOff x="0" y="0"/>
            <a:chExt cx="128016" cy="21031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8016" cy="2103120"/>
            </a:xfrm>
            <a:custGeom>
              <a:avLst/>
              <a:gdLst/>
              <a:ahLst/>
              <a:cxnLst/>
              <a:rect l="l" t="t" r="r" b="b"/>
              <a:pathLst>
                <a:path w="128016" h="2103120">
                  <a:moveTo>
                    <a:pt x="0" y="0"/>
                  </a:moveTo>
                  <a:lnTo>
                    <a:pt x="128016" y="0"/>
                  </a:lnTo>
                  <a:lnTo>
                    <a:pt x="128016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46" name="TextBox 46"/>
          <p:cNvSpPr txBox="1"/>
          <p:nvPr/>
        </p:nvSpPr>
        <p:spPr>
          <a:xfrm>
            <a:off x="9500616" y="5435346"/>
            <a:ext cx="7676388" cy="329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5. Reference portal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500616" y="5911215"/>
            <a:ext cx="7676388" cy="452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470" dirty="0">
                <a:latin typeface="Arial" panose="020B0604020202020204" pitchFamily="34" charset="0"/>
                <a:cs typeface="Arial" panose="020B0604020202020204" pitchFamily="34" charset="0"/>
              </a:rPr>
              <a:t>sih.gov.in — used to verify eligibility criteria, submission format, and evaluation parameters for Problem Statement 26130.</a:t>
            </a:r>
            <a:endParaRPr lang="en-US" sz="1470" dirty="0">
              <a:solidFill>
                <a:srgbClr val="5C6E7E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48" name="Group 48"/>
          <p:cNvGrpSpPr/>
          <p:nvPr/>
        </p:nvGrpSpPr>
        <p:grpSpPr>
          <a:xfrm>
            <a:off x="9210008" y="7070312"/>
            <a:ext cx="8175307" cy="1591627"/>
            <a:chOff x="0" y="0"/>
            <a:chExt cx="10900410" cy="212217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900410" cy="2122170"/>
            </a:xfrm>
            <a:custGeom>
              <a:avLst/>
              <a:gdLst/>
              <a:ahLst/>
              <a:cxnLst/>
              <a:rect l="l" t="t" r="r" b="b"/>
              <a:pathLst>
                <a:path w="10900410" h="2122170">
                  <a:moveTo>
                    <a:pt x="0" y="353695"/>
                  </a:moveTo>
                  <a:cubicBezTo>
                    <a:pt x="0" y="158369"/>
                    <a:pt x="158369" y="0"/>
                    <a:pt x="353695" y="0"/>
                  </a:cubicBezTo>
                  <a:lnTo>
                    <a:pt x="10546714" y="0"/>
                  </a:lnTo>
                  <a:cubicBezTo>
                    <a:pt x="10742040" y="0"/>
                    <a:pt x="10900410" y="158369"/>
                    <a:pt x="10900410" y="353695"/>
                  </a:cubicBezTo>
                  <a:lnTo>
                    <a:pt x="10900410" y="1768475"/>
                  </a:lnTo>
                  <a:cubicBezTo>
                    <a:pt x="10900410" y="1963801"/>
                    <a:pt x="10742040" y="2122170"/>
                    <a:pt x="10546714" y="2122170"/>
                  </a:cubicBezTo>
                  <a:lnTo>
                    <a:pt x="353695" y="2122170"/>
                  </a:lnTo>
                  <a:cubicBezTo>
                    <a:pt x="158369" y="2122170"/>
                    <a:pt x="0" y="1963801"/>
                    <a:pt x="0" y="1768475"/>
                  </a:cubicBezTo>
                  <a:close/>
                </a:path>
              </a:pathLst>
            </a:custGeom>
            <a:solidFill>
              <a:srgbClr val="F1F7FB"/>
            </a:solidFill>
            <a:ln w="14288" cap="sq">
              <a:solidFill>
                <a:srgbClr val="CCD8E2"/>
              </a:solidFill>
              <a:prstDash val="solid"/>
              <a:miter/>
            </a:ln>
          </p:spPr>
        </p:sp>
      </p:grpSp>
      <p:sp>
        <p:nvSpPr>
          <p:cNvPr id="50" name="TextBox 50"/>
          <p:cNvSpPr txBox="1"/>
          <p:nvPr/>
        </p:nvSpPr>
        <p:spPr>
          <a:xfrm>
            <a:off x="9500616" y="7287006"/>
            <a:ext cx="7539228" cy="329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1">
                <a:solidFill>
                  <a:srgbClr val="0F233A"/>
                </a:solidFill>
                <a:latin typeface="Arial Bold"/>
                <a:ea typeface="Arial Bold"/>
                <a:cs typeface="Arial Bold"/>
                <a:sym typeface="Arial Bold"/>
              </a:rPr>
              <a:t>SOURCE TRACEABILITY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500616" y="7743825"/>
            <a:ext cx="7539228" cy="61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Deck content is derived from the supplied SIH template, problem statement, frontend prototype and team-provided technical structure.</a:t>
            </a:r>
          </a:p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Prototype scope validated: authentication • dashboard • approvals • compliance • schemes • notifications • admin.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2C9BCD-4B3C-75E3-52A7-05935C07C13E}"/>
              </a:ext>
            </a:extLst>
          </p:cNvPr>
          <p:cNvSpPr txBox="1"/>
          <p:nvPr/>
        </p:nvSpPr>
        <p:spPr>
          <a:xfrm>
            <a:off x="1037844" y="4082923"/>
            <a:ext cx="6273546" cy="54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70" dirty="0">
                <a:latin typeface="Arial" panose="020B0604020202020204" pitchFamily="34" charset="0"/>
                <a:cs typeface="Arial" panose="020B0604020202020204" pitchFamily="34" charset="0"/>
              </a:rPr>
              <a:t>Standard idea-submission format covering problem, solution, tech stack, feasibility and impact  — used to structure this proposal.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832</Words>
  <Application>Microsoft Office PowerPoint</Application>
  <PresentationFormat>Custom</PresentationFormat>
  <Paragraphs>164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 Bold</vt:lpstr>
      <vt:lpstr>Calibri</vt:lpstr>
      <vt:lpstr>Calibri (MS)</vt:lpstr>
      <vt:lpstr>Times New Roman Bold</vt:lpstr>
      <vt:lpstr>Arimo Bold</vt:lpstr>
      <vt:lpstr>Garamond Bold</vt:lpstr>
      <vt:lpstr>Arial</vt:lpstr>
      <vt:lpstr>Arimo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InduSure_SIH2026_CyberSix_Enhanced.pptx</dc:title>
  <dc:creator>Naitik</dc:creator>
  <cp:lastModifiedBy>Naitik Utreja</cp:lastModifiedBy>
  <cp:revision>3</cp:revision>
  <dcterms:created xsi:type="dcterms:W3CDTF">2006-08-16T00:00:00Z</dcterms:created>
  <dcterms:modified xsi:type="dcterms:W3CDTF">2026-09-10T15:10:32Z</dcterms:modified>
  <dc:identifier>DAHUunKsFvI</dc:identifier>
</cp:coreProperties>
</file>